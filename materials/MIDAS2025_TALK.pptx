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1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907">
          <p15:clr>
            <a:srgbClr val="747775"/>
          </p15:clr>
        </p15:guide>
        <p15:guide id="2" pos="356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61" d="100"/>
          <a:sy n="161" d="100"/>
        </p:scale>
        <p:origin x="784" y="200"/>
      </p:cViewPr>
      <p:guideLst>
        <p:guide orient="horz" pos="907"/>
        <p:guide pos="356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ng, Boya" userId="de765388-2d16-4397-9ccb-05a933cb8a70" providerId="ADAL" clId="{02BBFDD8-62B6-6744-8D18-8CF5CAA1CAB1}"/>
    <pc:docChg chg="modSld">
      <pc:chgData name="Peng, Boya" userId="de765388-2d16-4397-9ccb-05a933cb8a70" providerId="ADAL" clId="{02BBFDD8-62B6-6744-8D18-8CF5CAA1CAB1}" dt="2025-12-01T00:51:40.502" v="1" actId="1076"/>
      <pc:docMkLst>
        <pc:docMk/>
      </pc:docMkLst>
      <pc:sldChg chg="modSp mod">
        <pc:chgData name="Peng, Boya" userId="de765388-2d16-4397-9ccb-05a933cb8a70" providerId="ADAL" clId="{02BBFDD8-62B6-6744-8D18-8CF5CAA1CAB1}" dt="2025-12-01T00:51:40.502" v="1" actId="1076"/>
        <pc:sldMkLst>
          <pc:docMk/>
          <pc:sldMk cId="0" sldId="257"/>
        </pc:sldMkLst>
        <pc:spChg chg="mod">
          <ac:chgData name="Peng, Boya" userId="de765388-2d16-4397-9ccb-05a933cb8a70" providerId="ADAL" clId="{02BBFDD8-62B6-6744-8D18-8CF5CAA1CAB1}" dt="2025-12-01T00:41:27.560" v="0" actId="1076"/>
          <ac:spMkLst>
            <pc:docMk/>
            <pc:sldMk cId="0" sldId="257"/>
            <ac:spMk id="75" creationId="{00000000-0000-0000-0000-000000000000}"/>
          </ac:spMkLst>
        </pc:spChg>
        <pc:spChg chg="mod">
          <ac:chgData name="Peng, Boya" userId="de765388-2d16-4397-9ccb-05a933cb8a70" providerId="ADAL" clId="{02BBFDD8-62B6-6744-8D18-8CF5CAA1CAB1}" dt="2025-12-01T00:51:40.502" v="1" actId="1076"/>
          <ac:spMkLst>
            <pc:docMk/>
            <pc:sldMk cId="0" sldId="257"/>
            <ac:spMk id="8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8e1a19666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8e1a19666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g38e1a196663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9ed6e1b2fc_0_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US, significant Negative relationship;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downward trend in coverage alarming, threat people’s health even life </a:t>
            </a:r>
            <a:endParaRPr/>
          </a:p>
        </p:txBody>
      </p:sp>
      <p:sp>
        <p:nvSpPr>
          <p:cNvPr id="73" name="Google Shape;73;g39ed6e1b2fc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e63052b52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Texas -&gt; 2 imported cases in Harris -&gt; biggest in Gaines</a:t>
            </a:r>
            <a:endParaRPr/>
          </a:p>
        </p:txBody>
      </p:sp>
      <p:sp>
        <p:nvSpPr>
          <p:cNvPr id="86" name="Google Shape;86;g39e63052b5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ed6e1b2fc_0_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Among all the people recorded, 98% unvaccinated.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-&gt; model transmission dynamics and investigate in vaccination strategies</a:t>
            </a:r>
            <a:endParaRPr/>
          </a:p>
        </p:txBody>
      </p:sp>
      <p:sp>
        <p:nvSpPr>
          <p:cNvPr id="95" name="Google Shape;95;g39ed6e1b2fc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8e1a196663_0_2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parameters calibration: gaines county through least square fit, age-specific transmission rate and susceptible rate</a:t>
            </a:r>
            <a:endParaRPr/>
          </a:p>
        </p:txBody>
      </p:sp>
      <p:sp>
        <p:nvSpPr>
          <p:cNvPr id="107" name="Google Shape;107;g38e1a196663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e1a196663_0_3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g38e1a196663_0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8e1a196663_0_5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g38e1a196663_0_5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8e1a196663_0_3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g38e1a196663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ed6e1b2fc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g39ed6e1b2fc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8e1a196663_0_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8e1a196663_0_3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g38e1a196663_0_36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ctrTitle"/>
          </p:nvPr>
        </p:nvSpPr>
        <p:spPr>
          <a:xfrm>
            <a:off x="543656" y="992850"/>
            <a:ext cx="8187300" cy="117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n" sz="3800">
                <a:solidFill>
                  <a:schemeClr val="lt1"/>
                </a:solidFill>
              </a:rPr>
              <a:t>Modeling the Impact of MMR Vaccination Strategies on Measles Outbreaks in Texas</a:t>
            </a:r>
            <a:endParaRPr sz="3800">
              <a:solidFill>
                <a:schemeClr val="lt1"/>
              </a:solidFill>
            </a:endParaRPr>
          </a:p>
        </p:txBody>
      </p:sp>
      <p:sp>
        <p:nvSpPr>
          <p:cNvPr id="69" name="Google Shape;69;p15"/>
          <p:cNvSpPr txBox="1">
            <a:spLocks noGrp="1"/>
          </p:cNvSpPr>
          <p:nvPr>
            <p:ph type="subTitle" idx="1"/>
          </p:nvPr>
        </p:nvSpPr>
        <p:spPr>
          <a:xfrm>
            <a:off x="543656" y="2750470"/>
            <a:ext cx="6858000" cy="54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</a:rPr>
              <a:t>Boya Peng, PhD student</a:t>
            </a:r>
            <a:endParaRPr sz="2000">
              <a:solidFill>
                <a:schemeClr val="lt1"/>
              </a:solidFill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 rotWithShape="1">
          <a:blip r:embed="rId4">
            <a:alphaModFix/>
          </a:blip>
          <a:srcRect t="11478" b="14277"/>
          <a:stretch/>
        </p:blipFill>
        <p:spPr>
          <a:xfrm>
            <a:off x="0" y="3445150"/>
            <a:ext cx="4069251" cy="124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/>
        </p:nvSpPr>
        <p:spPr>
          <a:xfrm>
            <a:off x="1939863" y="164154"/>
            <a:ext cx="4706100" cy="3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chemeClr val="dk2"/>
                </a:solidFill>
              </a:rPr>
              <a:t>Negative Relationship between Measles and MMR Coverage</a:t>
            </a:r>
            <a:endParaRPr sz="1300" dirty="0">
              <a:solidFill>
                <a:schemeClr val="dk2"/>
              </a:solidFill>
            </a:endParaRPr>
          </a:p>
        </p:txBody>
      </p:sp>
      <p:sp>
        <p:nvSpPr>
          <p:cNvPr id="76" name="Google Shape;76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grpSp>
        <p:nvGrpSpPr>
          <p:cNvPr id="77" name="Google Shape;77;p16"/>
          <p:cNvGrpSpPr/>
          <p:nvPr/>
        </p:nvGrpSpPr>
        <p:grpSpPr>
          <a:xfrm>
            <a:off x="1502692" y="1471435"/>
            <a:ext cx="5648350" cy="3186138"/>
            <a:chOff x="1606575" y="1277000"/>
            <a:chExt cx="5602966" cy="3190924"/>
          </a:xfrm>
        </p:grpSpPr>
        <p:pic>
          <p:nvPicPr>
            <p:cNvPr id="78" name="Google Shape;78;p16" title="measles_MMR.png"/>
            <p:cNvPicPr preferRelativeResize="0"/>
            <p:nvPr/>
          </p:nvPicPr>
          <p:blipFill rotWithShape="1">
            <a:blip r:embed="rId4">
              <a:alphaModFix/>
            </a:blip>
            <a:srcRect l="3988" r="10241" b="7612"/>
            <a:stretch/>
          </p:blipFill>
          <p:spPr>
            <a:xfrm>
              <a:off x="1606575" y="1277000"/>
              <a:ext cx="5186376" cy="31909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" name="Google Shape;79;p16"/>
            <p:cNvSpPr txBox="1"/>
            <p:nvPr/>
          </p:nvSpPr>
          <p:spPr>
            <a:xfrm>
              <a:off x="2058233" y="1284606"/>
              <a:ext cx="2346973" cy="3552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3925" tIns="113925" rIns="113925" bIns="1139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96">
                  <a:solidFill>
                    <a:schemeClr val="dk2"/>
                  </a:solidFill>
                </a:rPr>
                <a:t>Data Source: CDC</a:t>
              </a:r>
              <a:endParaRPr sz="996">
                <a:solidFill>
                  <a:schemeClr val="dk2"/>
                </a:solidFill>
              </a:endParaRPr>
            </a:p>
          </p:txBody>
        </p:sp>
        <p:sp>
          <p:nvSpPr>
            <p:cNvPr id="80" name="Google Shape;80;p16"/>
            <p:cNvSpPr txBox="1"/>
            <p:nvPr/>
          </p:nvSpPr>
          <p:spPr>
            <a:xfrm>
              <a:off x="6207500" y="3503777"/>
              <a:ext cx="1002041" cy="2732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3925" tIns="113925" rIns="113925" bIns="1139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21" b="1">
                  <a:solidFill>
                    <a:srgbClr val="FF9900"/>
                  </a:solidFill>
                </a:rPr>
                <a:t>92.7</a:t>
              </a:r>
              <a:endParaRPr sz="1121" b="1">
                <a:solidFill>
                  <a:srgbClr val="FF9900"/>
                </a:solidFill>
              </a:endParaRPr>
            </a:p>
          </p:txBody>
        </p:sp>
        <p:sp>
          <p:nvSpPr>
            <p:cNvPr id="81" name="Google Shape;81;p16"/>
            <p:cNvSpPr txBox="1"/>
            <p:nvPr/>
          </p:nvSpPr>
          <p:spPr>
            <a:xfrm>
              <a:off x="3256308" y="2255050"/>
              <a:ext cx="1002041" cy="2732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3925" tIns="113925" rIns="113925" bIns="1139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21" b="1">
                  <a:solidFill>
                    <a:srgbClr val="FF9900"/>
                  </a:solidFill>
                </a:rPr>
                <a:t>94</a:t>
              </a:r>
              <a:endParaRPr sz="1121" b="1">
                <a:solidFill>
                  <a:srgbClr val="FF9900"/>
                </a:solidFill>
              </a:endParaRPr>
            </a:p>
          </p:txBody>
        </p:sp>
        <p:sp>
          <p:nvSpPr>
            <p:cNvPr id="82" name="Google Shape;82;p16"/>
            <p:cNvSpPr txBox="1"/>
            <p:nvPr/>
          </p:nvSpPr>
          <p:spPr>
            <a:xfrm>
              <a:off x="4525363" y="1436131"/>
              <a:ext cx="1002041" cy="2732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3925" tIns="113925" rIns="113925" bIns="1139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21" b="1">
                  <a:solidFill>
                    <a:srgbClr val="FF9900"/>
                  </a:solidFill>
                </a:rPr>
                <a:t>94.7</a:t>
              </a:r>
              <a:endParaRPr sz="1121" b="1">
                <a:solidFill>
                  <a:srgbClr val="FF9900"/>
                </a:solidFill>
              </a:endParaRPr>
            </a:p>
          </p:txBody>
        </p:sp>
      </p:grpSp>
      <p:sp>
        <p:nvSpPr>
          <p:cNvPr id="83" name="Google Shape;83;p16"/>
          <p:cNvSpPr txBox="1">
            <a:spLocks noGrp="1"/>
          </p:cNvSpPr>
          <p:nvPr>
            <p:ph type="title"/>
          </p:nvPr>
        </p:nvSpPr>
        <p:spPr>
          <a:xfrm>
            <a:off x="628650" y="-256240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 dirty="0"/>
              <a:t>Measles and MMR Vaccination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Measles and MMR Vaccination</a:t>
            </a:r>
            <a:endParaRPr/>
          </a:p>
        </p:txBody>
      </p:sp>
      <p:sp>
        <p:nvSpPr>
          <p:cNvPr id="89" name="Google Shape;89;p17"/>
          <p:cNvSpPr txBox="1"/>
          <p:nvPr/>
        </p:nvSpPr>
        <p:spPr>
          <a:xfrm>
            <a:off x="1227200" y="1058050"/>
            <a:ext cx="2678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2025: Measles Outbreak in West Texas and nearby states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90" name="Google Shape;90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pic>
        <p:nvPicPr>
          <p:cNvPr id="91" name="Google Shape;91;p17" title="Screenshot 2025-10-29 at 7.27.48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2013" y="1669125"/>
            <a:ext cx="2678300" cy="262233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7"/>
          <p:cNvSpPr txBox="1"/>
          <p:nvPr/>
        </p:nvSpPr>
        <p:spPr>
          <a:xfrm>
            <a:off x="1227200" y="4291463"/>
            <a:ext cx="24231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(The New York Times, 2025)</a:t>
            </a:r>
            <a:endParaRPr sz="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Measles and MMR Vaccination</a:t>
            </a:r>
            <a:endParaRPr/>
          </a:p>
        </p:txBody>
      </p:sp>
      <p:sp>
        <p:nvSpPr>
          <p:cNvPr id="98" name="Google Shape;98;p18"/>
          <p:cNvSpPr txBox="1"/>
          <p:nvPr/>
        </p:nvSpPr>
        <p:spPr>
          <a:xfrm>
            <a:off x="1227200" y="1058050"/>
            <a:ext cx="2678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2025: Measles Outbreak in West Texas and nearby states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99" name="Google Shape;99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100" name="Google Shape;100;p18" title="Screenshot 2025-10-29 at 7.27.48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2013" y="1669125"/>
            <a:ext cx="2678300" cy="2622338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8"/>
          <p:cNvSpPr txBox="1"/>
          <p:nvPr/>
        </p:nvSpPr>
        <p:spPr>
          <a:xfrm>
            <a:off x="1227200" y="4291463"/>
            <a:ext cx="24231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(The New York Times, 2025)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5408425" y="1140150"/>
            <a:ext cx="2254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98% Cases in Texas outbreak are Unvaccinated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5466800" y="4006775"/>
            <a:ext cx="24231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Data Source: DSHS</a:t>
            </a:r>
            <a:endParaRPr sz="800">
              <a:solidFill>
                <a:schemeClr val="dk2"/>
              </a:solidFill>
            </a:endParaRPr>
          </a:p>
        </p:txBody>
      </p:sp>
      <p:pic>
        <p:nvPicPr>
          <p:cNvPr id="104" name="Google Shape;104;p18" title="measles_vaccination_status.png"/>
          <p:cNvPicPr preferRelativeResize="0"/>
          <p:nvPr/>
        </p:nvPicPr>
        <p:blipFill rotWithShape="1">
          <a:blip r:embed="rId5">
            <a:alphaModFix/>
          </a:blip>
          <a:srcRect l="8005" t="14889" r="6465" b="8240"/>
          <a:stretch/>
        </p:blipFill>
        <p:spPr>
          <a:xfrm>
            <a:off x="5408425" y="1732025"/>
            <a:ext cx="2323451" cy="223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>
            <a:spLocks noGrp="1"/>
          </p:cNvSpPr>
          <p:nvPr>
            <p:ph type="title"/>
          </p:nvPr>
        </p:nvSpPr>
        <p:spPr>
          <a:xfrm>
            <a:off x="628650" y="269081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SEIR Modeling</a:t>
            </a:r>
            <a:endParaRPr/>
          </a:p>
        </p:txBody>
      </p:sp>
      <p:pic>
        <p:nvPicPr>
          <p:cNvPr id="110" name="Google Shape;110;p19" title="Measles_diagr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7375" y="1671486"/>
            <a:ext cx="4448375" cy="2113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9"/>
          <p:cNvSpPr txBox="1"/>
          <p:nvPr/>
        </p:nvSpPr>
        <p:spPr>
          <a:xfrm>
            <a:off x="3285550" y="1263263"/>
            <a:ext cx="12213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Reported Case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495300" y="1885950"/>
            <a:ext cx="10422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"Non-risk" Susceptible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13" name="Google Shape;113;p19"/>
          <p:cNvSpPr txBox="1"/>
          <p:nvPr/>
        </p:nvSpPr>
        <p:spPr>
          <a:xfrm>
            <a:off x="1447875" y="1885950"/>
            <a:ext cx="10422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"At-risk" Susceptible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495300" y="3853700"/>
            <a:ext cx="10422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"Non-risk" Vaccinated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15" name="Google Shape;115;p19"/>
          <p:cNvSpPr txBox="1"/>
          <p:nvPr/>
        </p:nvSpPr>
        <p:spPr>
          <a:xfrm>
            <a:off x="1925125" y="3853700"/>
            <a:ext cx="1042200" cy="3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"At-risk" Vaccinated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16" name="Google Shape;116;p19"/>
          <p:cNvSpPr txBox="1"/>
          <p:nvPr/>
        </p:nvSpPr>
        <p:spPr>
          <a:xfrm>
            <a:off x="5609850" y="2025963"/>
            <a:ext cx="3403200" cy="14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❖"/>
            </a:pPr>
            <a:r>
              <a:rPr lang="en" sz="1600">
                <a:solidFill>
                  <a:schemeClr val="dk2"/>
                </a:solidFill>
              </a:rPr>
              <a:t>Leaky vaccination model</a:t>
            </a:r>
            <a:endParaRPr sz="1600">
              <a:solidFill>
                <a:schemeClr val="dk2"/>
              </a:solidFill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❖"/>
            </a:pPr>
            <a:r>
              <a:rPr lang="en" sz="1600">
                <a:solidFill>
                  <a:schemeClr val="dk2"/>
                </a:solidFill>
              </a:rPr>
              <a:t>Age structure</a:t>
            </a:r>
            <a:endParaRPr sz="1600">
              <a:solidFill>
                <a:schemeClr val="dk2"/>
              </a:solidFill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❖"/>
            </a:pPr>
            <a:r>
              <a:rPr lang="en" sz="1600">
                <a:solidFill>
                  <a:schemeClr val="dk2"/>
                </a:solidFill>
              </a:rPr>
              <a:t>Reporting rate</a:t>
            </a:r>
            <a:endParaRPr sz="1600">
              <a:solidFill>
                <a:schemeClr val="dk2"/>
              </a:solidFill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❖"/>
            </a:pPr>
            <a:r>
              <a:rPr lang="en" sz="1600">
                <a:solidFill>
                  <a:schemeClr val="dk2"/>
                </a:solidFill>
              </a:rPr>
              <a:t>Susceptible rate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17" name="Google Shape;117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>
            <a:spLocks noGrp="1"/>
          </p:cNvSpPr>
          <p:nvPr>
            <p:ph type="title"/>
          </p:nvPr>
        </p:nvSpPr>
        <p:spPr>
          <a:xfrm>
            <a:off x="628650" y="21935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Scenario Analysis</a:t>
            </a:r>
            <a:endParaRPr/>
          </a:p>
        </p:txBody>
      </p:sp>
      <p:sp>
        <p:nvSpPr>
          <p:cNvPr id="123" name="Google Shape;123;p20"/>
          <p:cNvSpPr txBox="1"/>
          <p:nvPr/>
        </p:nvSpPr>
        <p:spPr>
          <a:xfrm>
            <a:off x="628650" y="1050450"/>
            <a:ext cx="8245200" cy="9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Baseline scenario with reported MMR vaccination rates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Reduced vaccination uptake scenario with </a:t>
            </a: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</a:rPr>
              <a:t>5% reduction</a:t>
            </a:r>
            <a:r>
              <a:rPr lang="en" sz="1500">
                <a:solidFill>
                  <a:schemeClr val="dk1"/>
                </a:solidFill>
              </a:rPr>
              <a:t> in MMR vaccination rates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Increased vaccination uptake scenario with </a:t>
            </a:r>
            <a:r>
              <a:rPr lang="en" sz="1500">
                <a:solidFill>
                  <a:schemeClr val="dk1"/>
                </a:solidFill>
                <a:highlight>
                  <a:schemeClr val="accent6"/>
                </a:highlight>
              </a:rPr>
              <a:t>5% Increase </a:t>
            </a:r>
            <a:r>
              <a:rPr lang="en" sz="1500">
                <a:solidFill>
                  <a:schemeClr val="dk1"/>
                </a:solidFill>
              </a:rPr>
              <a:t>in MMR vaccination rates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24" name="Google Shape;12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3875" y="2048225"/>
            <a:ext cx="4913250" cy="252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>
            <a:spLocks noGrp="1"/>
          </p:cNvSpPr>
          <p:nvPr>
            <p:ph type="title"/>
          </p:nvPr>
        </p:nvSpPr>
        <p:spPr>
          <a:xfrm>
            <a:off x="628650" y="21935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Model Result</a:t>
            </a:r>
            <a:endParaRPr/>
          </a:p>
        </p:txBody>
      </p:sp>
      <p:pic>
        <p:nvPicPr>
          <p:cNvPr id="131" name="Google Shape;13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638" y="1124225"/>
            <a:ext cx="5345738" cy="344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1"/>
          <p:cNvSpPr txBox="1"/>
          <p:nvPr/>
        </p:nvSpPr>
        <p:spPr>
          <a:xfrm>
            <a:off x="6373425" y="2084425"/>
            <a:ext cx="2024400" cy="15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Raising vaccination coverage by 5% could </a:t>
            </a:r>
            <a:r>
              <a:rPr lang="en" sz="1100">
                <a:solidFill>
                  <a:schemeClr val="dk1"/>
                </a:solidFill>
                <a:highlight>
                  <a:schemeClr val="accent6"/>
                </a:highlight>
              </a:rPr>
              <a:t>prevent 190 cases </a:t>
            </a:r>
            <a:r>
              <a:rPr lang="en" sz="1100">
                <a:solidFill>
                  <a:schemeClr val="dk1"/>
                </a:solidFill>
              </a:rPr>
              <a:t>(95% CI: 144–234), while a 5% reduction may result in </a:t>
            </a:r>
            <a:r>
              <a:rPr lang="en" sz="1100">
                <a:solidFill>
                  <a:schemeClr val="dk1"/>
                </a:solidFill>
                <a:highlight>
                  <a:schemeClr val="accent6"/>
                </a:highlight>
              </a:rPr>
              <a:t>112 additional cases</a:t>
            </a:r>
            <a:r>
              <a:rPr lang="en" sz="1100">
                <a:solidFill>
                  <a:schemeClr val="dk1"/>
                </a:solidFill>
              </a:rPr>
              <a:t> (95% CI: 40-169) in Gaines County. </a:t>
            </a:r>
            <a:endParaRPr/>
          </a:p>
        </p:txBody>
      </p:sp>
      <p:sp>
        <p:nvSpPr>
          <p:cNvPr id="133" name="Google Shape;133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1875" y="1519001"/>
            <a:ext cx="2047406" cy="15312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24835" y="1498238"/>
            <a:ext cx="2047406" cy="15727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27795" y="1506879"/>
            <a:ext cx="2102934" cy="1555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21875" y="3090287"/>
            <a:ext cx="2102951" cy="15794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424835" y="3093609"/>
            <a:ext cx="2102950" cy="1572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527795" y="3090272"/>
            <a:ext cx="2102951" cy="157943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2"/>
          <p:cNvSpPr txBox="1"/>
          <p:nvPr/>
        </p:nvSpPr>
        <p:spPr>
          <a:xfrm>
            <a:off x="1586050" y="1188850"/>
            <a:ext cx="1067400" cy="2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775" tIns="75775" rIns="75775" bIns="757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94">
                <a:solidFill>
                  <a:schemeClr val="dk2"/>
                </a:solidFill>
              </a:rPr>
              <a:t>Gaines Uptake</a:t>
            </a:r>
            <a:endParaRPr sz="994">
              <a:solidFill>
                <a:schemeClr val="dk2"/>
              </a:solidFill>
            </a:endParaRPr>
          </a:p>
        </p:txBody>
      </p:sp>
      <p:sp>
        <p:nvSpPr>
          <p:cNvPr id="145" name="Google Shape;145;p22"/>
          <p:cNvSpPr txBox="1"/>
          <p:nvPr/>
        </p:nvSpPr>
        <p:spPr>
          <a:xfrm>
            <a:off x="3707763" y="1188850"/>
            <a:ext cx="1067400" cy="2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775" tIns="75775" rIns="75775" bIns="757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94">
                <a:solidFill>
                  <a:schemeClr val="dk2"/>
                </a:solidFill>
              </a:rPr>
              <a:t>-5% Uptake</a:t>
            </a:r>
            <a:endParaRPr sz="994">
              <a:solidFill>
                <a:schemeClr val="dk2"/>
              </a:solidFill>
            </a:endParaRPr>
          </a:p>
        </p:txBody>
      </p:sp>
      <p:sp>
        <p:nvSpPr>
          <p:cNvPr id="146" name="Google Shape;146;p22"/>
          <p:cNvSpPr txBox="1"/>
          <p:nvPr/>
        </p:nvSpPr>
        <p:spPr>
          <a:xfrm>
            <a:off x="5829476" y="1188850"/>
            <a:ext cx="1067400" cy="2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775" tIns="75775" rIns="75775" bIns="757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94">
                <a:solidFill>
                  <a:schemeClr val="dk2"/>
                </a:solidFill>
              </a:rPr>
              <a:t>+5% Uptake</a:t>
            </a:r>
            <a:endParaRPr sz="994">
              <a:solidFill>
                <a:schemeClr val="dk2"/>
              </a:solidFill>
            </a:endParaRPr>
          </a:p>
        </p:txBody>
      </p:sp>
      <p:sp>
        <p:nvSpPr>
          <p:cNvPr id="147" name="Google Shape;147;p22"/>
          <p:cNvSpPr txBox="1">
            <a:spLocks noGrp="1"/>
          </p:cNvSpPr>
          <p:nvPr>
            <p:ph type="title"/>
          </p:nvPr>
        </p:nvSpPr>
        <p:spPr>
          <a:xfrm>
            <a:off x="628650" y="241825"/>
            <a:ext cx="78861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 sz="2600" b="1"/>
              <a:t>What If</a:t>
            </a:r>
            <a:r>
              <a:rPr lang="en" sz="2600"/>
              <a:t> …</a:t>
            </a:r>
            <a:endParaRPr sz="26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 sz="2600"/>
              <a:t>Apply estimated parameters to all counties </a:t>
            </a:r>
            <a:endParaRPr sz="2600"/>
          </a:p>
        </p:txBody>
      </p:sp>
      <p:sp>
        <p:nvSpPr>
          <p:cNvPr id="148" name="Google Shape;148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154" name="Google Shape;154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 Home Messages</a:t>
            </a:r>
            <a:endParaRPr/>
          </a:p>
        </p:txBody>
      </p:sp>
      <p:sp>
        <p:nvSpPr>
          <p:cNvPr id="155" name="Google Shape;155;p23"/>
          <p:cNvSpPr txBox="1">
            <a:spLocks noGrp="1"/>
          </p:cNvSpPr>
          <p:nvPr>
            <p:ph type="body" idx="1"/>
          </p:nvPr>
        </p:nvSpPr>
        <p:spPr>
          <a:xfrm>
            <a:off x="628650" y="1943575"/>
            <a:ext cx="7886700" cy="26892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chemeClr val="dk1"/>
                </a:solidFill>
              </a:rPr>
              <a:t>Implication:</a:t>
            </a:r>
            <a:r>
              <a:rPr lang="en" sz="1400">
                <a:solidFill>
                  <a:schemeClr val="dk1"/>
                </a:solidFill>
              </a:rPr>
              <a:t> Efforts to maintain or boost vaccination coverage are critical.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 b="1">
                <a:solidFill>
                  <a:schemeClr val="dk1"/>
                </a:solidFill>
              </a:rPr>
              <a:t>Limitations: </a:t>
            </a:r>
            <a:r>
              <a:rPr lang="en" sz="1400">
                <a:solidFill>
                  <a:schemeClr val="dk1"/>
                </a:solidFill>
              </a:rPr>
              <a:t>The analysis assumes independent county transmission (no spatial correlation).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 b="1">
                <a:solidFill>
                  <a:schemeClr val="dk1"/>
                </a:solidFill>
              </a:rPr>
              <a:t>Future research:</a:t>
            </a:r>
            <a:r>
              <a:rPr lang="en" sz="1400">
                <a:solidFill>
                  <a:schemeClr val="dk1"/>
                </a:solidFill>
              </a:rPr>
              <a:t> Incorporating spatial transmission and heterogeneity in contact patterns.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>
            <a:spLocks noGrp="1"/>
          </p:cNvSpPr>
          <p:nvPr>
            <p:ph type="title"/>
          </p:nvPr>
        </p:nvSpPr>
        <p:spPr>
          <a:xfrm>
            <a:off x="3207038" y="1869675"/>
            <a:ext cx="27300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Thank You</a:t>
            </a:r>
            <a:endParaRPr sz="4500"/>
          </a:p>
        </p:txBody>
      </p:sp>
      <p:pic>
        <p:nvPicPr>
          <p:cNvPr id="162" name="Google Shape;162;p24" title="S2sQg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1772426" cy="1772426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4"/>
          <p:cNvSpPr txBox="1"/>
          <p:nvPr/>
        </p:nvSpPr>
        <p:spPr>
          <a:xfrm>
            <a:off x="3114150" y="3008925"/>
            <a:ext cx="2915700" cy="7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Boya Peng</a:t>
            </a:r>
            <a:endParaRPr sz="180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boya.peng@uth.tmc.edu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4" name="Google Shape;164;p24"/>
          <p:cNvSpPr txBox="1"/>
          <p:nvPr/>
        </p:nvSpPr>
        <p:spPr>
          <a:xfrm>
            <a:off x="152400" y="1987650"/>
            <a:ext cx="1845300" cy="11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333333"/>
                </a:solidFill>
                <a:highlight>
                  <a:srgbClr val="FFFFFF"/>
                </a:highlight>
              </a:rPr>
              <a:t>Bi K, Nguyen T, Peng B, et al. Modeling the Impact of MMR Vaccination Strategies on Measles Outbreaks in Texas. </a:t>
            </a:r>
            <a:r>
              <a:rPr lang="en" sz="1150" i="1">
                <a:solidFill>
                  <a:srgbClr val="333333"/>
                </a:solidFill>
                <a:highlight>
                  <a:srgbClr val="FFFFFF"/>
                </a:highlight>
              </a:rPr>
              <a:t>JAMA Health Forum.</a:t>
            </a:r>
            <a:r>
              <a:rPr lang="en" sz="1150">
                <a:solidFill>
                  <a:srgbClr val="333333"/>
                </a:solidFill>
                <a:highlight>
                  <a:srgbClr val="FFFFFF"/>
                </a:highlight>
              </a:rPr>
              <a:t> 2025;6(9):e253992. doi:10.1001/jamahealthforum.2025.3992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5" name="Google Shape;165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380</Words>
  <Application>Microsoft Macintosh PowerPoint</Application>
  <PresentationFormat>On-screen Show (16:9)</PresentationFormat>
  <Paragraphs>62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Arial</vt:lpstr>
      <vt:lpstr>Roboto</vt:lpstr>
      <vt:lpstr>Simple Light</vt:lpstr>
      <vt:lpstr>Modeling the Impact of MMR Vaccination Strategies on Measles Outbreaks in Texas</vt:lpstr>
      <vt:lpstr>Measles and MMR Vaccination</vt:lpstr>
      <vt:lpstr>Measles and MMR Vaccination</vt:lpstr>
      <vt:lpstr>Measles and MMR Vaccination</vt:lpstr>
      <vt:lpstr>SEIR Modeling</vt:lpstr>
      <vt:lpstr>Scenario Analysis</vt:lpstr>
      <vt:lpstr>Model Result</vt:lpstr>
      <vt:lpstr>What If … Apply estimated parameters to all counties </vt:lpstr>
      <vt:lpstr>Take Home Messages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Peng, Boya</cp:lastModifiedBy>
  <cp:revision>1</cp:revision>
  <dcterms:modified xsi:type="dcterms:W3CDTF">2025-12-01T00:51:50Z</dcterms:modified>
</cp:coreProperties>
</file>