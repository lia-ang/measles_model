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43891200" cy="32918400"/>
  <p:notesSz cx="43073638" cy="65019238"/>
  <p:custDataLst>
    <p:tags r:id="rId7"/>
  </p:custDataLst>
  <p:defaultTextStyle>
    <a:defPPr>
      <a:defRPr lang="en-US"/>
    </a:defPPr>
    <a:lvl1pPr algn="l" rtl="0" fontAlgn="base">
      <a:spcBef>
        <a:spcPct val="0"/>
      </a:spcBef>
      <a:spcAft>
        <a:spcPct val="0"/>
      </a:spcAft>
      <a:defRPr sz="8679" kern="1200">
        <a:solidFill>
          <a:schemeClr val="tx1"/>
        </a:solidFill>
        <a:latin typeface="Arial" charset="0"/>
        <a:ea typeface="+mn-ea"/>
        <a:cs typeface="+mn-cs"/>
      </a:defRPr>
    </a:lvl1pPr>
    <a:lvl2pPr marL="640003" algn="l" rtl="0" fontAlgn="base">
      <a:spcBef>
        <a:spcPct val="0"/>
      </a:spcBef>
      <a:spcAft>
        <a:spcPct val="0"/>
      </a:spcAft>
      <a:defRPr sz="8679" kern="1200">
        <a:solidFill>
          <a:schemeClr val="tx1"/>
        </a:solidFill>
        <a:latin typeface="Arial" charset="0"/>
        <a:ea typeface="+mn-ea"/>
        <a:cs typeface="+mn-cs"/>
      </a:defRPr>
    </a:lvl2pPr>
    <a:lvl3pPr marL="1280006" algn="l" rtl="0" fontAlgn="base">
      <a:spcBef>
        <a:spcPct val="0"/>
      </a:spcBef>
      <a:spcAft>
        <a:spcPct val="0"/>
      </a:spcAft>
      <a:defRPr sz="8679" kern="1200">
        <a:solidFill>
          <a:schemeClr val="tx1"/>
        </a:solidFill>
        <a:latin typeface="Arial" charset="0"/>
        <a:ea typeface="+mn-ea"/>
        <a:cs typeface="+mn-cs"/>
      </a:defRPr>
    </a:lvl3pPr>
    <a:lvl4pPr marL="1920009" algn="l" rtl="0" fontAlgn="base">
      <a:spcBef>
        <a:spcPct val="0"/>
      </a:spcBef>
      <a:spcAft>
        <a:spcPct val="0"/>
      </a:spcAft>
      <a:defRPr sz="8679" kern="1200">
        <a:solidFill>
          <a:schemeClr val="tx1"/>
        </a:solidFill>
        <a:latin typeface="Arial" charset="0"/>
        <a:ea typeface="+mn-ea"/>
        <a:cs typeface="+mn-cs"/>
      </a:defRPr>
    </a:lvl4pPr>
    <a:lvl5pPr marL="2560013" algn="l" rtl="0" fontAlgn="base">
      <a:spcBef>
        <a:spcPct val="0"/>
      </a:spcBef>
      <a:spcAft>
        <a:spcPct val="0"/>
      </a:spcAft>
      <a:defRPr sz="8679" kern="1200">
        <a:solidFill>
          <a:schemeClr val="tx1"/>
        </a:solidFill>
        <a:latin typeface="Arial" charset="0"/>
        <a:ea typeface="+mn-ea"/>
        <a:cs typeface="+mn-cs"/>
      </a:defRPr>
    </a:lvl5pPr>
    <a:lvl6pPr marL="3200016" algn="l" defTabSz="1280006" rtl="0" eaLnBrk="1" latinLnBrk="0" hangingPunct="1">
      <a:defRPr sz="8679" kern="1200">
        <a:solidFill>
          <a:schemeClr val="tx1"/>
        </a:solidFill>
        <a:latin typeface="Arial" charset="0"/>
        <a:ea typeface="+mn-ea"/>
        <a:cs typeface="+mn-cs"/>
      </a:defRPr>
    </a:lvl6pPr>
    <a:lvl7pPr marL="3840019" algn="l" defTabSz="1280006" rtl="0" eaLnBrk="1" latinLnBrk="0" hangingPunct="1">
      <a:defRPr sz="8679" kern="1200">
        <a:solidFill>
          <a:schemeClr val="tx1"/>
        </a:solidFill>
        <a:latin typeface="Arial" charset="0"/>
        <a:ea typeface="+mn-ea"/>
        <a:cs typeface="+mn-cs"/>
      </a:defRPr>
    </a:lvl7pPr>
    <a:lvl8pPr marL="4480022" algn="l" defTabSz="1280006" rtl="0" eaLnBrk="1" latinLnBrk="0" hangingPunct="1">
      <a:defRPr sz="8679" kern="1200">
        <a:solidFill>
          <a:schemeClr val="tx1"/>
        </a:solidFill>
        <a:latin typeface="Arial" charset="0"/>
        <a:ea typeface="+mn-ea"/>
        <a:cs typeface="+mn-cs"/>
      </a:defRPr>
    </a:lvl8pPr>
    <a:lvl9pPr marL="5120025" algn="l" defTabSz="1280006" rtl="0" eaLnBrk="1" latinLnBrk="0" hangingPunct="1">
      <a:defRPr sz="8679"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456" userDrawn="1">
          <p15:clr>
            <a:srgbClr val="A4A3A4"/>
          </p15:clr>
        </p15:guide>
        <p15:guide id="2" orient="horz" pos="20088" userDrawn="1">
          <p15:clr>
            <a:srgbClr val="A4A3A4"/>
          </p15:clr>
        </p15:guide>
        <p15:guide id="3" orient="horz" pos="977" userDrawn="1">
          <p15:clr>
            <a:srgbClr val="A4A3A4"/>
          </p15:clr>
        </p15:guide>
        <p15:guide id="4" orient="horz" pos="2592" userDrawn="1">
          <p15:clr>
            <a:srgbClr val="A4A3A4"/>
          </p15:clr>
        </p15:guide>
        <p15:guide id="5" orient="horz" pos="1944" userDrawn="1">
          <p15:clr>
            <a:srgbClr val="A4A3A4"/>
          </p15:clr>
        </p15:guide>
        <p15:guide id="6" pos="384" userDrawn="1">
          <p15:clr>
            <a:srgbClr val="A4A3A4"/>
          </p15:clr>
        </p15:guide>
        <p15:guide id="7" pos="19776" userDrawn="1">
          <p15:clr>
            <a:srgbClr val="A4A3A4"/>
          </p15:clr>
        </p15:guide>
        <p15:guide id="8" pos="11136" userDrawn="1">
          <p15:clr>
            <a:srgbClr val="A4A3A4"/>
          </p15:clr>
        </p15:guide>
        <p15:guide id="9" pos="5952" userDrawn="1">
          <p15:clr>
            <a:srgbClr val="A4A3A4"/>
          </p15:clr>
        </p15:guide>
        <p15:guide id="10" pos="12288" userDrawn="1">
          <p15:clr>
            <a:srgbClr val="A4A3A4"/>
          </p15:clr>
        </p15:guide>
        <p15:guide id="11" pos="5568" userDrawn="1">
          <p15:clr>
            <a:srgbClr val="A4A3A4"/>
          </p15:clr>
        </p15:guide>
        <p15:guide id="12" pos="27264" userDrawn="1">
          <p15:clr>
            <a:srgbClr val="A4A3A4"/>
          </p15:clr>
        </p15:guide>
        <p15:guide id="13" pos="209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dwards, Rachel B" initials="ERB" lastIdx="10" clrIdx="0">
    <p:extLst>
      <p:ext uri="{19B8F6BF-5375-455C-9EA6-DF929625EA0E}">
        <p15:presenceInfo xmlns:p15="http://schemas.microsoft.com/office/powerpoint/2012/main" userId="Edwards, Rachel B" providerId="None"/>
      </p:ext>
    </p:extLst>
  </p:cmAuthor>
  <p:cmAuthor id="2" name="Nassar, Jodie L" initials="NJL" lastIdx="11" clrIdx="1">
    <p:extLst>
      <p:ext uri="{19B8F6BF-5375-455C-9EA6-DF929625EA0E}">
        <p15:presenceInfo xmlns:p15="http://schemas.microsoft.com/office/powerpoint/2012/main" userId="S::Jodie.L.Nassar@uth.tmc.edu::dc382a68-7329-48ac-85ef-864b3a4ec5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6042"/>
    <a:srgbClr val="757578"/>
    <a:srgbClr val="BD4F19"/>
    <a:srgbClr val="FFFFFF"/>
    <a:srgbClr val="4E738A"/>
    <a:srgbClr val="002856"/>
    <a:srgbClr val="206C49"/>
    <a:srgbClr val="4D4F53"/>
    <a:srgbClr val="44697D"/>
    <a:srgbClr val="552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891" autoAdjust="0"/>
    <p:restoredTop sz="92462" autoAdjust="0"/>
  </p:normalViewPr>
  <p:slideViewPr>
    <p:cSldViewPr>
      <p:cViewPr varScale="1">
        <p:scale>
          <a:sx n="22" d="100"/>
          <a:sy n="22" d="100"/>
        </p:scale>
        <p:origin x="1602" y="120"/>
      </p:cViewPr>
      <p:guideLst>
        <p:guide orient="horz" pos="3456"/>
        <p:guide orient="horz" pos="20088"/>
        <p:guide orient="horz" pos="977"/>
        <p:guide orient="horz" pos="2592"/>
        <p:guide orient="horz" pos="1944"/>
        <p:guide pos="384"/>
        <p:guide pos="19776"/>
        <p:guide pos="11136"/>
        <p:guide pos="5952"/>
        <p:guide pos="12288"/>
        <p:guide pos="5568"/>
        <p:guide pos="27264"/>
        <p:guide pos="20928"/>
      </p:guideLst>
    </p:cSldViewPr>
  </p:slideViewPr>
  <p:notesTextViewPr>
    <p:cViewPr>
      <p:scale>
        <a:sx n="100" d="100"/>
        <a:sy n="100" d="100"/>
      </p:scale>
      <p:origin x="0" y="0"/>
    </p:cViewPr>
  </p:notesTextViewPr>
  <p:gridSpacing cx="228600" cy="2286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18665668" cy="3250326"/>
          </a:xfrm>
          <a:prstGeom prst="rect">
            <a:avLst/>
          </a:prstGeom>
          <a:noFill/>
          <a:ln w="9525">
            <a:noFill/>
            <a:miter lim="800000"/>
            <a:headEnd/>
            <a:tailEnd/>
          </a:ln>
          <a:effectLst/>
        </p:spPr>
        <p:txBody>
          <a:bodyPr vert="horz" wrap="square" lIns="617649" tIns="308824" rIns="617649" bIns="308824" numCol="1" anchor="t" anchorCtr="0" compatLnSpc="1">
            <a:prstTxWarp prst="textNoShape">
              <a:avLst/>
            </a:prstTxWarp>
          </a:bodyPr>
          <a:lstStyle>
            <a:lvl1pPr>
              <a:defRPr sz="8000"/>
            </a:lvl1pPr>
          </a:lstStyle>
          <a:p>
            <a:pPr>
              <a:defRPr/>
            </a:pPr>
            <a:endParaRPr lang="en-US"/>
          </a:p>
        </p:txBody>
      </p:sp>
      <p:sp>
        <p:nvSpPr>
          <p:cNvPr id="3075" name="Rectangle 3"/>
          <p:cNvSpPr>
            <a:spLocks noGrp="1" noChangeArrowheads="1"/>
          </p:cNvSpPr>
          <p:nvPr>
            <p:ph type="dt" idx="1"/>
          </p:nvPr>
        </p:nvSpPr>
        <p:spPr bwMode="auto">
          <a:xfrm>
            <a:off x="24398422" y="1"/>
            <a:ext cx="18665668" cy="3250326"/>
          </a:xfrm>
          <a:prstGeom prst="rect">
            <a:avLst/>
          </a:prstGeom>
          <a:noFill/>
          <a:ln w="9525">
            <a:noFill/>
            <a:miter lim="800000"/>
            <a:headEnd/>
            <a:tailEnd/>
          </a:ln>
          <a:effectLst/>
        </p:spPr>
        <p:txBody>
          <a:bodyPr vert="horz" wrap="square" lIns="617649" tIns="308824" rIns="617649" bIns="308824" numCol="1" anchor="t" anchorCtr="0" compatLnSpc="1">
            <a:prstTxWarp prst="textNoShape">
              <a:avLst/>
            </a:prstTxWarp>
          </a:bodyPr>
          <a:lstStyle>
            <a:lvl1pPr algn="r">
              <a:defRPr sz="8000"/>
            </a:lvl1pPr>
          </a:lstStyle>
          <a:p>
            <a:pPr>
              <a:defRPr/>
            </a:pPr>
            <a:endParaRPr lang="en-US"/>
          </a:p>
        </p:txBody>
      </p:sp>
      <p:sp>
        <p:nvSpPr>
          <p:cNvPr id="3076" name="Rectangle 4"/>
          <p:cNvSpPr>
            <a:spLocks noGrp="1" noRot="1" noChangeAspect="1" noChangeArrowheads="1" noTextEdit="1"/>
          </p:cNvSpPr>
          <p:nvPr>
            <p:ph type="sldImg" idx="2"/>
          </p:nvPr>
        </p:nvSpPr>
        <p:spPr bwMode="auto">
          <a:xfrm>
            <a:off x="5280025" y="4875213"/>
            <a:ext cx="32513588" cy="24384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4306729" y="30884457"/>
            <a:ext cx="34460184" cy="29259293"/>
          </a:xfrm>
          <a:prstGeom prst="rect">
            <a:avLst/>
          </a:prstGeom>
          <a:noFill/>
          <a:ln w="9525">
            <a:noFill/>
            <a:miter lim="800000"/>
            <a:headEnd/>
            <a:tailEnd/>
          </a:ln>
          <a:effectLst/>
        </p:spPr>
        <p:txBody>
          <a:bodyPr vert="horz" wrap="square" lIns="617649" tIns="308824" rIns="617649" bIns="3088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61756192"/>
            <a:ext cx="18665668" cy="3250326"/>
          </a:xfrm>
          <a:prstGeom prst="rect">
            <a:avLst/>
          </a:prstGeom>
          <a:noFill/>
          <a:ln w="9525">
            <a:noFill/>
            <a:miter lim="800000"/>
            <a:headEnd/>
            <a:tailEnd/>
          </a:ln>
          <a:effectLst/>
        </p:spPr>
        <p:txBody>
          <a:bodyPr vert="horz" wrap="square" lIns="617649" tIns="308824" rIns="617649" bIns="308824" numCol="1" anchor="b" anchorCtr="0" compatLnSpc="1">
            <a:prstTxWarp prst="textNoShape">
              <a:avLst/>
            </a:prstTxWarp>
          </a:bodyPr>
          <a:lstStyle>
            <a:lvl1pPr>
              <a:defRPr sz="8000"/>
            </a:lvl1pPr>
          </a:lstStyle>
          <a:p>
            <a:pPr>
              <a:defRPr/>
            </a:pPr>
            <a:endParaRPr lang="en-US"/>
          </a:p>
        </p:txBody>
      </p:sp>
      <p:sp>
        <p:nvSpPr>
          <p:cNvPr id="3079" name="Rectangle 7"/>
          <p:cNvSpPr>
            <a:spLocks noGrp="1" noChangeArrowheads="1"/>
          </p:cNvSpPr>
          <p:nvPr>
            <p:ph type="sldNum" sz="quarter" idx="5"/>
          </p:nvPr>
        </p:nvSpPr>
        <p:spPr bwMode="auto">
          <a:xfrm>
            <a:off x="24398422" y="61756192"/>
            <a:ext cx="18665668" cy="3250326"/>
          </a:xfrm>
          <a:prstGeom prst="rect">
            <a:avLst/>
          </a:prstGeom>
          <a:noFill/>
          <a:ln w="9525">
            <a:noFill/>
            <a:miter lim="800000"/>
            <a:headEnd/>
            <a:tailEnd/>
          </a:ln>
          <a:effectLst/>
        </p:spPr>
        <p:txBody>
          <a:bodyPr vert="horz" wrap="square" lIns="617649" tIns="308824" rIns="617649" bIns="308824" numCol="1" anchor="b" anchorCtr="0" compatLnSpc="1">
            <a:prstTxWarp prst="textNoShape">
              <a:avLst/>
            </a:prstTxWarp>
          </a:bodyPr>
          <a:lstStyle>
            <a:lvl1pPr algn="r">
              <a:defRPr sz="8000"/>
            </a:lvl1pPr>
          </a:lstStyle>
          <a:p>
            <a:pPr>
              <a:defRPr/>
            </a:pPr>
            <a:fld id="{732CF5D4-B7C8-45C4-8D0E-09F4306A9ED5}" type="slidenum">
              <a:rPr lang="en-US"/>
              <a:pPr>
                <a:defRPr/>
              </a:pPr>
              <a:t>‹#›</a:t>
            </a:fld>
            <a:endParaRPr lang="en-US"/>
          </a:p>
        </p:txBody>
      </p:sp>
    </p:spTree>
    <p:extLst>
      <p:ext uri="{BB962C8B-B14F-4D97-AF65-F5344CB8AC3E}">
        <p14:creationId xmlns:p14="http://schemas.microsoft.com/office/powerpoint/2010/main" val="23294973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80" kern="1200">
        <a:solidFill>
          <a:schemeClr val="tx1"/>
        </a:solidFill>
        <a:latin typeface="Arial" charset="0"/>
        <a:ea typeface="+mn-ea"/>
        <a:cs typeface="+mn-cs"/>
      </a:defRPr>
    </a:lvl1pPr>
    <a:lvl2pPr marL="640003" algn="l" rtl="0" eaLnBrk="0" fontAlgn="base" hangingPunct="0">
      <a:spcBef>
        <a:spcPct val="30000"/>
      </a:spcBef>
      <a:spcAft>
        <a:spcPct val="0"/>
      </a:spcAft>
      <a:defRPr sz="1680" kern="1200">
        <a:solidFill>
          <a:schemeClr val="tx1"/>
        </a:solidFill>
        <a:latin typeface="Arial" charset="0"/>
        <a:ea typeface="+mn-ea"/>
        <a:cs typeface="+mn-cs"/>
      </a:defRPr>
    </a:lvl2pPr>
    <a:lvl3pPr marL="1280006" algn="l" rtl="0" eaLnBrk="0" fontAlgn="base" hangingPunct="0">
      <a:spcBef>
        <a:spcPct val="30000"/>
      </a:spcBef>
      <a:spcAft>
        <a:spcPct val="0"/>
      </a:spcAft>
      <a:defRPr sz="1680" kern="1200">
        <a:solidFill>
          <a:schemeClr val="tx1"/>
        </a:solidFill>
        <a:latin typeface="Arial" charset="0"/>
        <a:ea typeface="+mn-ea"/>
        <a:cs typeface="+mn-cs"/>
      </a:defRPr>
    </a:lvl3pPr>
    <a:lvl4pPr marL="1920009" algn="l" rtl="0" eaLnBrk="0" fontAlgn="base" hangingPunct="0">
      <a:spcBef>
        <a:spcPct val="30000"/>
      </a:spcBef>
      <a:spcAft>
        <a:spcPct val="0"/>
      </a:spcAft>
      <a:defRPr sz="1680" kern="1200">
        <a:solidFill>
          <a:schemeClr val="tx1"/>
        </a:solidFill>
        <a:latin typeface="Arial" charset="0"/>
        <a:ea typeface="+mn-ea"/>
        <a:cs typeface="+mn-cs"/>
      </a:defRPr>
    </a:lvl4pPr>
    <a:lvl5pPr marL="2560013" algn="l" rtl="0" eaLnBrk="0" fontAlgn="base" hangingPunct="0">
      <a:spcBef>
        <a:spcPct val="30000"/>
      </a:spcBef>
      <a:spcAft>
        <a:spcPct val="0"/>
      </a:spcAft>
      <a:defRPr sz="1680" kern="1200">
        <a:solidFill>
          <a:schemeClr val="tx1"/>
        </a:solidFill>
        <a:latin typeface="Arial" charset="0"/>
        <a:ea typeface="+mn-ea"/>
        <a:cs typeface="+mn-cs"/>
      </a:defRPr>
    </a:lvl5pPr>
    <a:lvl6pPr marL="3200016" algn="l" defTabSz="1280006" rtl="0" eaLnBrk="1" latinLnBrk="0" hangingPunct="1">
      <a:defRPr sz="1680" kern="1200">
        <a:solidFill>
          <a:schemeClr val="tx1"/>
        </a:solidFill>
        <a:latin typeface="+mn-lt"/>
        <a:ea typeface="+mn-ea"/>
        <a:cs typeface="+mn-cs"/>
      </a:defRPr>
    </a:lvl6pPr>
    <a:lvl7pPr marL="3840019" algn="l" defTabSz="1280006" rtl="0" eaLnBrk="1" latinLnBrk="0" hangingPunct="1">
      <a:defRPr sz="1680" kern="1200">
        <a:solidFill>
          <a:schemeClr val="tx1"/>
        </a:solidFill>
        <a:latin typeface="+mn-lt"/>
        <a:ea typeface="+mn-ea"/>
        <a:cs typeface="+mn-cs"/>
      </a:defRPr>
    </a:lvl7pPr>
    <a:lvl8pPr marL="4480022" algn="l" defTabSz="1280006" rtl="0" eaLnBrk="1" latinLnBrk="0" hangingPunct="1">
      <a:defRPr sz="1680" kern="1200">
        <a:solidFill>
          <a:schemeClr val="tx1"/>
        </a:solidFill>
        <a:latin typeface="+mn-lt"/>
        <a:ea typeface="+mn-ea"/>
        <a:cs typeface="+mn-cs"/>
      </a:defRPr>
    </a:lvl8pPr>
    <a:lvl9pPr marL="5120025" algn="l" defTabSz="1280006"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p>
            <a:fld id="{99143535-7622-448E-875F-352F29DE87A9}" type="slidenum">
              <a:rPr lang="en-US" smtClean="0"/>
              <a:pPr/>
              <a:t>1</a:t>
            </a:fld>
            <a:endParaRPr lang="en-US"/>
          </a:p>
        </p:txBody>
      </p:sp>
      <p:sp>
        <p:nvSpPr>
          <p:cNvPr id="4099" name="Rectangle 2"/>
          <p:cNvSpPr>
            <a:spLocks noGrp="1" noRot="1" noChangeAspect="1" noChangeArrowheads="1" noTextEdit="1"/>
          </p:cNvSpPr>
          <p:nvPr>
            <p:ph type="sldImg"/>
          </p:nvPr>
        </p:nvSpPr>
        <p:spPr>
          <a:xfrm>
            <a:off x="5280025" y="4875213"/>
            <a:ext cx="32513588" cy="24384000"/>
          </a:xfrm>
          <a:ln/>
        </p:spPr>
      </p:sp>
      <p:sp>
        <p:nvSpPr>
          <p:cNvPr id="41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419" y="10225089"/>
            <a:ext cx="37308367" cy="7058025"/>
          </a:xfrm>
        </p:spPr>
        <p:txBody>
          <a:bodyPr/>
          <a:lstStyle/>
          <a:p>
            <a:r>
              <a:rPr lang="en-US"/>
              <a:t>Click to edit Master title style</a:t>
            </a:r>
          </a:p>
        </p:txBody>
      </p:sp>
      <p:sp>
        <p:nvSpPr>
          <p:cNvPr id="3" name="Subtitle 2"/>
          <p:cNvSpPr>
            <a:spLocks noGrp="1"/>
          </p:cNvSpPr>
          <p:nvPr>
            <p:ph type="subTitle" idx="1"/>
          </p:nvPr>
        </p:nvSpPr>
        <p:spPr>
          <a:xfrm>
            <a:off x="6582835" y="18654714"/>
            <a:ext cx="30725533" cy="8410575"/>
          </a:xfrm>
        </p:spPr>
        <p:txBody>
          <a:bodyPr/>
          <a:lstStyle>
            <a:lvl1pPr marL="0" indent="0" algn="ctr">
              <a:buNone/>
              <a:defRPr/>
            </a:lvl1pPr>
            <a:lvl2pPr marL="609585" indent="0" algn="ctr">
              <a:buNone/>
              <a:defRPr/>
            </a:lvl2pPr>
            <a:lvl3pPr marL="1219170" indent="0" algn="ctr">
              <a:buNone/>
              <a:defRPr/>
            </a:lvl3pPr>
            <a:lvl4pPr marL="1828754" indent="0" algn="ctr">
              <a:buNone/>
              <a:defRPr/>
            </a:lvl4pPr>
            <a:lvl5pPr marL="2438339" indent="0" algn="ctr">
              <a:buNone/>
              <a:defRPr/>
            </a:lvl5pPr>
            <a:lvl6pPr marL="3047924" indent="0" algn="ctr">
              <a:buNone/>
              <a:defRPr/>
            </a:lvl6pPr>
            <a:lvl7pPr marL="3657509" indent="0" algn="ctr">
              <a:buNone/>
              <a:defRPr/>
            </a:lvl7pPr>
            <a:lvl8pPr marL="4267093" indent="0" algn="ctr">
              <a:buNone/>
              <a:defRPr/>
            </a:lvl8pPr>
            <a:lvl9pPr marL="4876678"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EF7427E-06C6-46DD-9332-4BE1D400F36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BFC443F-DAC6-47DA-A526-4E667510E97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2647"/>
            <a:ext cx="37308367" cy="6538913"/>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3467102" y="13951745"/>
            <a:ext cx="37308367" cy="7200900"/>
          </a:xfrm>
        </p:spPr>
        <p:txBody>
          <a:bodyPr anchor="b"/>
          <a:lstStyle>
            <a:lvl1pPr marL="0" indent="0">
              <a:buNone/>
              <a:defRPr sz="2667"/>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EEA39B8-875C-4937-AC9F-6B3EF30B4A4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984" y="7681915"/>
            <a:ext cx="19649016" cy="2172414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47202" y="7681915"/>
            <a:ext cx="19649017" cy="2172414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261482B-B536-49FE-BE5C-855D70BCE07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986" y="7367590"/>
            <a:ext cx="19392900" cy="307181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2194986" y="10439400"/>
            <a:ext cx="19392900" cy="18966657"/>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968" y="7367590"/>
            <a:ext cx="19399251" cy="307181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22296968" y="10439400"/>
            <a:ext cx="19399251" cy="18966657"/>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4056BB3-C47A-46E0-AD16-8723D6905C3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10C76B2-CCD0-4C17-9779-996D43CD82E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A163EBF-C1FD-482A-B0D7-4E5C154E9B0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986" y="1309690"/>
            <a:ext cx="14439900" cy="557927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17159817" y="1309690"/>
            <a:ext cx="24536400" cy="28096370"/>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986" y="6888957"/>
            <a:ext cx="14439900" cy="22517100"/>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76BF97-1FAB-4A9B-873E-A0025016BBF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135" y="23043359"/>
            <a:ext cx="26335567" cy="271938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8602135" y="2940845"/>
            <a:ext cx="26335567" cy="19752468"/>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endParaRPr lang="en-US" noProof="0"/>
          </a:p>
        </p:txBody>
      </p:sp>
      <p:sp>
        <p:nvSpPr>
          <p:cNvPr id="4" name="Text Placeholder 3"/>
          <p:cNvSpPr>
            <a:spLocks noGrp="1"/>
          </p:cNvSpPr>
          <p:nvPr>
            <p:ph type="body" sz="half" idx="2"/>
          </p:nvPr>
        </p:nvSpPr>
        <p:spPr>
          <a:xfrm>
            <a:off x="8602135" y="25762745"/>
            <a:ext cx="26335567" cy="3864768"/>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0C19427-4BE0-4B92-9C38-D16C932BF39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3A3DBA-DBF5-4307-927F-388F23F4385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968" y="1319215"/>
            <a:ext cx="9874251" cy="280868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986" y="1319215"/>
            <a:ext cx="29423783" cy="280868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EC6CFC8-2042-4F85-846D-662E8295080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4986" y="1319213"/>
            <a:ext cx="39501233" cy="5486400"/>
          </a:xfrm>
          <a:prstGeom prst="rect">
            <a:avLst/>
          </a:prstGeom>
          <a:noFill/>
          <a:ln w="9525">
            <a:noFill/>
            <a:miter lim="800000"/>
            <a:headEnd/>
            <a:tailEnd/>
          </a:ln>
        </p:spPr>
        <p:txBody>
          <a:bodyPr vert="horz" wrap="square" lIns="313502" tIns="156751" rIns="313502" bIns="156751"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194986" y="7681915"/>
            <a:ext cx="39501233" cy="21724145"/>
          </a:xfrm>
          <a:prstGeom prst="rect">
            <a:avLst/>
          </a:prstGeom>
          <a:noFill/>
          <a:ln w="9525">
            <a:noFill/>
            <a:miter lim="800000"/>
            <a:headEnd/>
            <a:tailEnd/>
          </a:ln>
        </p:spPr>
        <p:txBody>
          <a:bodyPr vert="horz" wrap="square" lIns="313502" tIns="156751" rIns="313502" bIns="1567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4986" y="29977557"/>
            <a:ext cx="10240433" cy="2286000"/>
          </a:xfrm>
          <a:prstGeom prst="rect">
            <a:avLst/>
          </a:prstGeom>
          <a:noFill/>
          <a:ln w="9525">
            <a:noFill/>
            <a:miter lim="800000"/>
            <a:headEnd/>
            <a:tailEnd/>
          </a:ln>
          <a:effectLst/>
        </p:spPr>
        <p:txBody>
          <a:bodyPr vert="horz" wrap="square" lIns="313502" tIns="156751" rIns="313502" bIns="156751" numCol="1" anchor="t" anchorCtr="0" compatLnSpc="1">
            <a:prstTxWarp prst="textNoShape">
              <a:avLst/>
            </a:prstTxWarp>
          </a:bodyPr>
          <a:lstStyle>
            <a:lvl1pPr>
              <a:defRPr sz="6400"/>
            </a:lvl1pPr>
          </a:lstStyle>
          <a:p>
            <a:pPr>
              <a:defRPr/>
            </a:pPr>
            <a:endParaRPr lang="en-US"/>
          </a:p>
        </p:txBody>
      </p:sp>
      <p:sp>
        <p:nvSpPr>
          <p:cNvPr id="1029" name="Rectangle 5"/>
          <p:cNvSpPr>
            <a:spLocks noGrp="1" noChangeArrowheads="1"/>
          </p:cNvSpPr>
          <p:nvPr>
            <p:ph type="ftr" sz="quarter" idx="3"/>
          </p:nvPr>
        </p:nvSpPr>
        <p:spPr bwMode="auto">
          <a:xfrm>
            <a:off x="14996586" y="29977557"/>
            <a:ext cx="13898033" cy="2286000"/>
          </a:xfrm>
          <a:prstGeom prst="rect">
            <a:avLst/>
          </a:prstGeom>
          <a:noFill/>
          <a:ln w="9525">
            <a:noFill/>
            <a:miter lim="800000"/>
            <a:headEnd/>
            <a:tailEnd/>
          </a:ln>
          <a:effectLst/>
        </p:spPr>
        <p:txBody>
          <a:bodyPr vert="horz" wrap="square" lIns="313502" tIns="156751" rIns="313502" bIns="156751" numCol="1" anchor="t" anchorCtr="0" compatLnSpc="1">
            <a:prstTxWarp prst="textNoShape">
              <a:avLst/>
            </a:prstTxWarp>
          </a:bodyPr>
          <a:lstStyle>
            <a:lvl1pPr algn="ctr">
              <a:defRPr sz="6400"/>
            </a:lvl1pPr>
          </a:lstStyle>
          <a:p>
            <a:pPr>
              <a:defRPr/>
            </a:pPr>
            <a:endParaRPr lang="en-US"/>
          </a:p>
        </p:txBody>
      </p:sp>
      <p:sp>
        <p:nvSpPr>
          <p:cNvPr id="1030" name="Rectangle 6"/>
          <p:cNvSpPr>
            <a:spLocks noGrp="1" noChangeArrowheads="1"/>
          </p:cNvSpPr>
          <p:nvPr>
            <p:ph type="sldNum" sz="quarter" idx="4"/>
          </p:nvPr>
        </p:nvSpPr>
        <p:spPr bwMode="auto">
          <a:xfrm>
            <a:off x="31455786" y="29977557"/>
            <a:ext cx="10240433" cy="2286000"/>
          </a:xfrm>
          <a:prstGeom prst="rect">
            <a:avLst/>
          </a:prstGeom>
          <a:noFill/>
          <a:ln w="9525">
            <a:noFill/>
            <a:miter lim="800000"/>
            <a:headEnd/>
            <a:tailEnd/>
          </a:ln>
          <a:effectLst/>
        </p:spPr>
        <p:txBody>
          <a:bodyPr vert="horz" wrap="square" lIns="313502" tIns="156751" rIns="313502" bIns="156751" numCol="1" anchor="t" anchorCtr="0" compatLnSpc="1">
            <a:prstTxWarp prst="textNoShape">
              <a:avLst/>
            </a:prstTxWarp>
          </a:bodyPr>
          <a:lstStyle>
            <a:lvl1pPr algn="r">
              <a:defRPr sz="6400"/>
            </a:lvl1pPr>
          </a:lstStyle>
          <a:p>
            <a:pPr>
              <a:defRPr/>
            </a:pPr>
            <a:fld id="{797C3C77-EBE8-4FD2-83F4-B3D2BBFB647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80313" rtl="0" eaLnBrk="0" fontAlgn="base" hangingPunct="0">
        <a:spcBef>
          <a:spcPct val="0"/>
        </a:spcBef>
        <a:spcAft>
          <a:spcPct val="0"/>
        </a:spcAft>
        <a:defRPr sz="20133">
          <a:solidFill>
            <a:schemeClr val="tx2"/>
          </a:solidFill>
          <a:latin typeface="+mj-lt"/>
          <a:ea typeface="+mj-ea"/>
          <a:cs typeface="+mj-cs"/>
        </a:defRPr>
      </a:lvl1pPr>
      <a:lvl2pPr algn="ctr" defTabSz="4180313" rtl="0" eaLnBrk="0" fontAlgn="base" hangingPunct="0">
        <a:spcBef>
          <a:spcPct val="0"/>
        </a:spcBef>
        <a:spcAft>
          <a:spcPct val="0"/>
        </a:spcAft>
        <a:defRPr sz="20133">
          <a:solidFill>
            <a:schemeClr val="tx2"/>
          </a:solidFill>
          <a:latin typeface="Arial" charset="0"/>
        </a:defRPr>
      </a:lvl2pPr>
      <a:lvl3pPr algn="ctr" defTabSz="4180313" rtl="0" eaLnBrk="0" fontAlgn="base" hangingPunct="0">
        <a:spcBef>
          <a:spcPct val="0"/>
        </a:spcBef>
        <a:spcAft>
          <a:spcPct val="0"/>
        </a:spcAft>
        <a:defRPr sz="20133">
          <a:solidFill>
            <a:schemeClr val="tx2"/>
          </a:solidFill>
          <a:latin typeface="Arial" charset="0"/>
        </a:defRPr>
      </a:lvl3pPr>
      <a:lvl4pPr algn="ctr" defTabSz="4180313" rtl="0" eaLnBrk="0" fontAlgn="base" hangingPunct="0">
        <a:spcBef>
          <a:spcPct val="0"/>
        </a:spcBef>
        <a:spcAft>
          <a:spcPct val="0"/>
        </a:spcAft>
        <a:defRPr sz="20133">
          <a:solidFill>
            <a:schemeClr val="tx2"/>
          </a:solidFill>
          <a:latin typeface="Arial" charset="0"/>
        </a:defRPr>
      </a:lvl4pPr>
      <a:lvl5pPr algn="ctr" defTabSz="4180313" rtl="0" eaLnBrk="0" fontAlgn="base" hangingPunct="0">
        <a:spcBef>
          <a:spcPct val="0"/>
        </a:spcBef>
        <a:spcAft>
          <a:spcPct val="0"/>
        </a:spcAft>
        <a:defRPr sz="20133">
          <a:solidFill>
            <a:schemeClr val="tx2"/>
          </a:solidFill>
          <a:latin typeface="Arial" charset="0"/>
        </a:defRPr>
      </a:lvl5pPr>
      <a:lvl6pPr marL="609585" algn="ctr" defTabSz="4180313" rtl="0" fontAlgn="base">
        <a:spcBef>
          <a:spcPct val="0"/>
        </a:spcBef>
        <a:spcAft>
          <a:spcPct val="0"/>
        </a:spcAft>
        <a:defRPr sz="20133">
          <a:solidFill>
            <a:schemeClr val="tx2"/>
          </a:solidFill>
          <a:latin typeface="Arial" charset="0"/>
        </a:defRPr>
      </a:lvl6pPr>
      <a:lvl7pPr marL="1219170" algn="ctr" defTabSz="4180313" rtl="0" fontAlgn="base">
        <a:spcBef>
          <a:spcPct val="0"/>
        </a:spcBef>
        <a:spcAft>
          <a:spcPct val="0"/>
        </a:spcAft>
        <a:defRPr sz="20133">
          <a:solidFill>
            <a:schemeClr val="tx2"/>
          </a:solidFill>
          <a:latin typeface="Arial" charset="0"/>
        </a:defRPr>
      </a:lvl7pPr>
      <a:lvl8pPr marL="1828754" algn="ctr" defTabSz="4180313" rtl="0" fontAlgn="base">
        <a:spcBef>
          <a:spcPct val="0"/>
        </a:spcBef>
        <a:spcAft>
          <a:spcPct val="0"/>
        </a:spcAft>
        <a:defRPr sz="20133">
          <a:solidFill>
            <a:schemeClr val="tx2"/>
          </a:solidFill>
          <a:latin typeface="Arial" charset="0"/>
        </a:defRPr>
      </a:lvl8pPr>
      <a:lvl9pPr marL="2438339" algn="ctr" defTabSz="4180313" rtl="0" fontAlgn="base">
        <a:spcBef>
          <a:spcPct val="0"/>
        </a:spcBef>
        <a:spcAft>
          <a:spcPct val="0"/>
        </a:spcAft>
        <a:defRPr sz="20133">
          <a:solidFill>
            <a:schemeClr val="tx2"/>
          </a:solidFill>
          <a:latin typeface="Arial" charset="0"/>
        </a:defRPr>
      </a:lvl9pPr>
    </p:titleStyle>
    <p:bodyStyle>
      <a:lvl1pPr marL="1568411" indent="-1568411" algn="l" defTabSz="4180313" rtl="0" eaLnBrk="0" fontAlgn="base" hangingPunct="0">
        <a:spcBef>
          <a:spcPct val="20000"/>
        </a:spcBef>
        <a:spcAft>
          <a:spcPct val="0"/>
        </a:spcAft>
        <a:buChar char="•"/>
        <a:defRPr sz="14666">
          <a:solidFill>
            <a:schemeClr val="tx1"/>
          </a:solidFill>
          <a:latin typeface="+mn-lt"/>
          <a:ea typeface="+mn-ea"/>
          <a:cs typeface="+mn-cs"/>
        </a:defRPr>
      </a:lvl1pPr>
      <a:lvl2pPr marL="3397166" indent="-1308067" algn="l" defTabSz="4180313" rtl="0" eaLnBrk="0" fontAlgn="base" hangingPunct="0">
        <a:spcBef>
          <a:spcPct val="20000"/>
        </a:spcBef>
        <a:spcAft>
          <a:spcPct val="0"/>
        </a:spcAft>
        <a:buChar char="–"/>
        <a:defRPr sz="12800">
          <a:solidFill>
            <a:schemeClr val="tx1"/>
          </a:solidFill>
          <a:latin typeface="+mn-lt"/>
        </a:defRPr>
      </a:lvl2pPr>
      <a:lvl3pPr marL="5225920" indent="-1045607" algn="l" defTabSz="4180313" rtl="0" eaLnBrk="0" fontAlgn="base" hangingPunct="0">
        <a:spcBef>
          <a:spcPct val="20000"/>
        </a:spcBef>
        <a:spcAft>
          <a:spcPct val="0"/>
        </a:spcAft>
        <a:buChar char="•"/>
        <a:defRPr sz="10933">
          <a:solidFill>
            <a:schemeClr val="tx1"/>
          </a:solidFill>
          <a:latin typeface="+mn-lt"/>
        </a:defRPr>
      </a:lvl3pPr>
      <a:lvl4pPr marL="7315017" indent="-1045607" algn="l" defTabSz="4180313" rtl="0" eaLnBrk="0" fontAlgn="base" hangingPunct="0">
        <a:spcBef>
          <a:spcPct val="20000"/>
        </a:spcBef>
        <a:spcAft>
          <a:spcPct val="0"/>
        </a:spcAft>
        <a:buChar char="–"/>
        <a:defRPr sz="9200">
          <a:solidFill>
            <a:schemeClr val="tx1"/>
          </a:solidFill>
          <a:latin typeface="+mn-lt"/>
        </a:defRPr>
      </a:lvl4pPr>
      <a:lvl5pPr marL="9404116" indent="-1043491" algn="l" defTabSz="4180313" rtl="0" eaLnBrk="0" fontAlgn="base" hangingPunct="0">
        <a:spcBef>
          <a:spcPct val="20000"/>
        </a:spcBef>
        <a:spcAft>
          <a:spcPct val="0"/>
        </a:spcAft>
        <a:buChar char="»"/>
        <a:defRPr sz="9200">
          <a:solidFill>
            <a:schemeClr val="tx1"/>
          </a:solidFill>
          <a:latin typeface="+mn-lt"/>
        </a:defRPr>
      </a:lvl5pPr>
      <a:lvl6pPr marL="10013700" indent="-1043491" algn="l" defTabSz="4180313" rtl="0" fontAlgn="base">
        <a:spcBef>
          <a:spcPct val="20000"/>
        </a:spcBef>
        <a:spcAft>
          <a:spcPct val="0"/>
        </a:spcAft>
        <a:buChar char="»"/>
        <a:defRPr sz="9200">
          <a:solidFill>
            <a:schemeClr val="tx1"/>
          </a:solidFill>
          <a:latin typeface="+mn-lt"/>
        </a:defRPr>
      </a:lvl6pPr>
      <a:lvl7pPr marL="10623285" indent="-1043491" algn="l" defTabSz="4180313" rtl="0" fontAlgn="base">
        <a:spcBef>
          <a:spcPct val="20000"/>
        </a:spcBef>
        <a:spcAft>
          <a:spcPct val="0"/>
        </a:spcAft>
        <a:buChar char="»"/>
        <a:defRPr sz="9200">
          <a:solidFill>
            <a:schemeClr val="tx1"/>
          </a:solidFill>
          <a:latin typeface="+mn-lt"/>
        </a:defRPr>
      </a:lvl7pPr>
      <a:lvl8pPr marL="11232870" indent="-1043491" algn="l" defTabSz="4180313" rtl="0" fontAlgn="base">
        <a:spcBef>
          <a:spcPct val="20000"/>
        </a:spcBef>
        <a:spcAft>
          <a:spcPct val="0"/>
        </a:spcAft>
        <a:buChar char="»"/>
        <a:defRPr sz="9200">
          <a:solidFill>
            <a:schemeClr val="tx1"/>
          </a:solidFill>
          <a:latin typeface="+mn-lt"/>
        </a:defRPr>
      </a:lvl8pPr>
      <a:lvl9pPr marL="11842455" indent="-1043491" algn="l" defTabSz="4180313" rtl="0" fontAlgn="base">
        <a:spcBef>
          <a:spcPct val="20000"/>
        </a:spcBef>
        <a:spcAft>
          <a:spcPct val="0"/>
        </a:spcAft>
        <a:buChar char="»"/>
        <a:defRPr sz="9200">
          <a:solidFill>
            <a:schemeClr val="tx1"/>
          </a:solidFill>
          <a:latin typeface="+mn-lt"/>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20"/>
          <p:cNvSpPr txBox="1">
            <a:spLocks noChangeArrowheads="1"/>
          </p:cNvSpPr>
          <p:nvPr/>
        </p:nvSpPr>
        <p:spPr bwMode="auto">
          <a:xfrm>
            <a:off x="0" y="32015524"/>
            <a:ext cx="43891200" cy="902876"/>
          </a:xfrm>
          <a:prstGeom prst="rect">
            <a:avLst/>
          </a:prstGeom>
          <a:solidFill>
            <a:srgbClr val="AE6042"/>
          </a:solidFill>
          <a:ln w="9525">
            <a:noFill/>
            <a:miter lim="800000"/>
            <a:headEnd/>
            <a:tailEnd/>
          </a:ln>
        </p:spPr>
        <p:txBody>
          <a:bodyPr lIns="609600" tIns="121920" bIns="121920">
            <a:spAutoFit/>
          </a:bodyPr>
          <a:lstStyle>
            <a:defPPr>
              <a:defRPr lang="en-US"/>
            </a:defPPr>
            <a:lvl1pPr>
              <a:defRPr sz="3200" i="1">
                <a:solidFill>
                  <a:schemeClr val="bg1"/>
                </a:solidFill>
                <a:latin typeface="Calibri" pitchFamily="34" charset="0"/>
                <a:cs typeface="Calibri" pitchFamily="34" charset="0"/>
              </a:defRPr>
            </a:lvl1pPr>
          </a:lstStyle>
          <a:p>
            <a:pPr algn="ctr"/>
            <a:endParaRPr lang="en-US" sz="4267" dirty="0"/>
          </a:p>
        </p:txBody>
      </p:sp>
      <p:grpSp>
        <p:nvGrpSpPr>
          <p:cNvPr id="2" name="Group 1"/>
          <p:cNvGrpSpPr/>
          <p:nvPr/>
        </p:nvGrpSpPr>
        <p:grpSpPr>
          <a:xfrm>
            <a:off x="1109761" y="4367031"/>
            <a:ext cx="19202400" cy="8717355"/>
            <a:chOff x="13201128" y="6086557"/>
            <a:chExt cx="12219709" cy="5989152"/>
          </a:xfrm>
        </p:grpSpPr>
        <p:sp>
          <p:nvSpPr>
            <p:cNvPr id="108" name="Text Box 41"/>
            <p:cNvSpPr txBox="1">
              <a:spLocks noChangeArrowheads="1"/>
            </p:cNvSpPr>
            <p:nvPr/>
          </p:nvSpPr>
          <p:spPr bwMode="auto">
            <a:xfrm>
              <a:off x="13201128" y="6086557"/>
              <a:ext cx="12219709" cy="502582"/>
            </a:xfrm>
            <a:prstGeom prst="rect">
              <a:avLst/>
            </a:prstGeom>
            <a:solidFill>
              <a:srgbClr val="4E738A"/>
            </a:solidFill>
            <a:ln w="12700">
              <a:noFill/>
              <a:miter lim="800000"/>
              <a:headEnd/>
              <a:tailEnd/>
            </a:ln>
          </p:spPr>
          <p:txBody>
            <a:bodyPr wrap="square" anchor="ctr">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algn="ctr" defTabSz="6688499"/>
              <a:r>
                <a:rPr lang="en-US" sz="4267" b="1" dirty="0">
                  <a:solidFill>
                    <a:schemeClr val="bg1"/>
                  </a:solidFill>
                  <a:latin typeface="Calibri" pitchFamily="34" charset="0"/>
                  <a:cs typeface="Calibri" pitchFamily="34" charset="0"/>
                </a:rPr>
                <a:t>Introduction</a:t>
              </a:r>
            </a:p>
          </p:txBody>
        </p:sp>
        <p:sp>
          <p:nvSpPr>
            <p:cNvPr id="109" name="Text Box 90"/>
            <p:cNvSpPr txBox="1">
              <a:spLocks noChangeArrowheads="1"/>
            </p:cNvSpPr>
            <p:nvPr/>
          </p:nvSpPr>
          <p:spPr bwMode="auto">
            <a:xfrm>
              <a:off x="13264638" y="6643453"/>
              <a:ext cx="6212970" cy="5432256"/>
            </a:xfrm>
            <a:prstGeom prst="rect">
              <a:avLst/>
            </a:prstGeom>
            <a:noFill/>
            <a:ln w="9525">
              <a:noFill/>
              <a:miter lim="800000"/>
              <a:headEnd/>
              <a:tailEnd/>
            </a:ln>
          </p:spPr>
          <p:txBody>
            <a:bodyPr wrap="square" lIns="0" tIns="0" rIns="0" bIns="0">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defTabSz="4180313">
                <a:spcBef>
                  <a:spcPts val="1200"/>
                </a:spcBef>
              </a:pPr>
              <a:r>
                <a:rPr lang="en-US" sz="3670" dirty="0">
                  <a:latin typeface="Calibri" panose="020F0502020204030204" pitchFamily="34" charset="0"/>
                  <a:cs typeface="Calibri" panose="020F0502020204030204" pitchFamily="34" charset="0"/>
                </a:rPr>
                <a:t>Measles was a common childhood disease until the MMR vaccine led to its elimination in the U.S. by 2000. However, outbreaks have reemerged due to vaccination lapses, as seen in a significant January 2025 outbreak in Gaines County, Texas. By August 12, 2025, Texas reported </a:t>
              </a:r>
              <a:r>
                <a:rPr lang="en-US" sz="3670" b="1" dirty="0">
                  <a:latin typeface="Calibri" panose="020F0502020204030204" pitchFamily="34" charset="0"/>
                  <a:cs typeface="Calibri" panose="020F0502020204030204" pitchFamily="34" charset="0"/>
                </a:rPr>
                <a:t>762</a:t>
              </a:r>
              <a:r>
                <a:rPr lang="en-US" sz="3670" dirty="0">
                  <a:latin typeface="Calibri" panose="020F0502020204030204" pitchFamily="34" charset="0"/>
                  <a:cs typeface="Calibri" panose="020F0502020204030204" pitchFamily="34" charset="0"/>
                </a:rPr>
                <a:t> measles cases with </a:t>
              </a:r>
              <a:r>
                <a:rPr lang="en-US" sz="3670" b="1" dirty="0">
                  <a:latin typeface="Calibri" panose="020F0502020204030204" pitchFamily="34" charset="0"/>
                  <a:cs typeface="Calibri" panose="020F0502020204030204" pitchFamily="34" charset="0"/>
                </a:rPr>
                <a:t>414</a:t>
              </a:r>
              <a:r>
                <a:rPr lang="en-US" sz="3670" dirty="0">
                  <a:latin typeface="Calibri" panose="020F0502020204030204" pitchFamily="34" charset="0"/>
                  <a:cs typeface="Calibri" panose="020F0502020204030204" pitchFamily="34" charset="0"/>
                </a:rPr>
                <a:t> in Gaines County alone. These events highlight challenges in maintaining community immunity amidst vaccine hesitancy and disruptions to vaccination programs, including drops in MMR coverage. In Texas, Kindergarten MMR vaccination rates fell from </a:t>
              </a:r>
              <a:r>
                <a:rPr lang="en-US" sz="3670" b="1" dirty="0">
                  <a:latin typeface="Calibri" panose="020F0502020204030204" pitchFamily="34" charset="0"/>
                  <a:cs typeface="Calibri" panose="020F0502020204030204" pitchFamily="34" charset="0"/>
                </a:rPr>
                <a:t>98.51% </a:t>
              </a:r>
              <a:r>
                <a:rPr lang="en-US" sz="3670" dirty="0">
                  <a:latin typeface="Calibri" panose="020F0502020204030204" pitchFamily="34" charset="0"/>
                  <a:cs typeface="Calibri" panose="020F0502020204030204" pitchFamily="34" charset="0"/>
                </a:rPr>
                <a:t>in 2013-14 to </a:t>
              </a:r>
              <a:r>
                <a:rPr lang="en-US" sz="3670" b="1" dirty="0">
                  <a:latin typeface="Calibri" panose="020F0502020204030204" pitchFamily="34" charset="0"/>
                  <a:cs typeface="Calibri" panose="020F0502020204030204" pitchFamily="34" charset="0"/>
                </a:rPr>
                <a:t>94.25%</a:t>
              </a:r>
              <a:r>
                <a:rPr lang="en-US" sz="3670" dirty="0">
                  <a:latin typeface="Calibri" panose="020F0502020204030204" pitchFamily="34" charset="0"/>
                  <a:cs typeface="Calibri" panose="020F0502020204030204" pitchFamily="34" charset="0"/>
                </a:rPr>
                <a:t> in 2024-25, and in Gaines County, it dropped from </a:t>
              </a:r>
              <a:r>
                <a:rPr lang="en-US" sz="3670" b="1" dirty="0">
                  <a:latin typeface="Calibri" panose="020F0502020204030204" pitchFamily="34" charset="0"/>
                  <a:cs typeface="Calibri" panose="020F0502020204030204" pitchFamily="34" charset="0"/>
                </a:rPr>
                <a:t>92.55% </a:t>
              </a:r>
              <a:r>
                <a:rPr lang="en-US" sz="3670" dirty="0">
                  <a:latin typeface="Calibri" panose="020F0502020204030204" pitchFamily="34" charset="0"/>
                  <a:cs typeface="Calibri" panose="020F0502020204030204" pitchFamily="34" charset="0"/>
                </a:rPr>
                <a:t>to </a:t>
              </a:r>
              <a:r>
                <a:rPr lang="en-US" sz="3670" b="1" dirty="0">
                  <a:latin typeface="Calibri" panose="020F0502020204030204" pitchFamily="34" charset="0"/>
                  <a:cs typeface="Calibri" panose="020F0502020204030204" pitchFamily="34" charset="0"/>
                </a:rPr>
                <a:t>81.97% </a:t>
              </a:r>
              <a:r>
                <a:rPr lang="en-US" sz="3670" dirty="0">
                  <a:latin typeface="Calibri" panose="020F0502020204030204" pitchFamily="34" charset="0"/>
                  <a:cs typeface="Calibri" panose="020F0502020204030204" pitchFamily="34" charset="0"/>
                </a:rPr>
                <a:t>over the same periods.</a:t>
              </a:r>
            </a:p>
          </p:txBody>
        </p:sp>
      </p:grpSp>
      <p:grpSp>
        <p:nvGrpSpPr>
          <p:cNvPr id="13" name="Group 12">
            <a:extLst>
              <a:ext uri="{FF2B5EF4-FFF2-40B4-BE49-F238E27FC236}">
                <a16:creationId xmlns:a16="http://schemas.microsoft.com/office/drawing/2014/main" id="{D739DAE3-9E7B-4084-AD57-CFF1F9328798}"/>
              </a:ext>
            </a:extLst>
          </p:cNvPr>
          <p:cNvGrpSpPr/>
          <p:nvPr/>
        </p:nvGrpSpPr>
        <p:grpSpPr>
          <a:xfrm>
            <a:off x="2" y="-63808"/>
            <a:ext cx="43891199" cy="4267200"/>
            <a:chOff x="1" y="-272525"/>
            <a:chExt cx="43878492" cy="4267200"/>
          </a:xfrm>
        </p:grpSpPr>
        <p:grpSp>
          <p:nvGrpSpPr>
            <p:cNvPr id="7" name="Group 6"/>
            <p:cNvGrpSpPr/>
            <p:nvPr/>
          </p:nvGrpSpPr>
          <p:grpSpPr>
            <a:xfrm>
              <a:off x="1" y="-272525"/>
              <a:ext cx="43878492" cy="4267200"/>
              <a:chOff x="12700" y="0"/>
              <a:chExt cx="43865800" cy="4267200"/>
            </a:xfrm>
            <a:solidFill>
              <a:srgbClr val="AE6042"/>
            </a:solidFill>
          </p:grpSpPr>
          <p:grpSp>
            <p:nvGrpSpPr>
              <p:cNvPr id="5" name="Group 4"/>
              <p:cNvGrpSpPr/>
              <p:nvPr/>
            </p:nvGrpSpPr>
            <p:grpSpPr>
              <a:xfrm>
                <a:off x="12700" y="0"/>
                <a:ext cx="43865800" cy="4267200"/>
                <a:chOff x="12700" y="1818217"/>
                <a:chExt cx="43865800" cy="4267200"/>
              </a:xfrm>
              <a:grpFill/>
            </p:grpSpPr>
            <p:sp>
              <p:nvSpPr>
                <p:cNvPr id="71" name="Text Box 39"/>
                <p:cNvSpPr txBox="1">
                  <a:spLocks noChangeArrowheads="1"/>
                </p:cNvSpPr>
                <p:nvPr/>
              </p:nvSpPr>
              <p:spPr bwMode="auto">
                <a:xfrm>
                  <a:off x="12700" y="1818217"/>
                  <a:ext cx="43865800" cy="4267200"/>
                </a:xfrm>
                <a:prstGeom prst="rect">
                  <a:avLst/>
                </a:prstGeom>
                <a:grpFill/>
                <a:ln w="12700">
                  <a:noFill/>
                  <a:miter lim="800000"/>
                  <a:headEnd/>
                  <a:tailEnd/>
                </a:ln>
              </p:spPr>
              <p:txBody>
                <a:bodyPr/>
                <a:lstStyle/>
                <a:p>
                  <a:pPr algn="ctr" defTabSz="6688499"/>
                  <a:endParaRPr lang="en-US" sz="4800" b="1" i="1" dirty="0">
                    <a:solidFill>
                      <a:schemeClr val="bg1"/>
                    </a:solidFill>
                    <a:latin typeface="Calibri" panose="020F0502020204030204" pitchFamily="34" charset="0"/>
                    <a:cs typeface="Calibri" pitchFamily="34" charset="0"/>
                  </a:endParaRPr>
                </a:p>
              </p:txBody>
            </p:sp>
            <p:sp>
              <p:nvSpPr>
                <p:cNvPr id="73" name="TextBox 18"/>
                <p:cNvSpPr txBox="1">
                  <a:spLocks noChangeArrowheads="1"/>
                </p:cNvSpPr>
                <p:nvPr/>
              </p:nvSpPr>
              <p:spPr bwMode="auto">
                <a:xfrm>
                  <a:off x="25400" y="4485545"/>
                  <a:ext cx="26091095" cy="1569660"/>
                </a:xfrm>
                <a:prstGeom prst="rect">
                  <a:avLst/>
                </a:prstGeom>
                <a:grpFill/>
                <a:ln w="9525">
                  <a:noFill/>
                  <a:miter lim="800000"/>
                  <a:headEnd/>
                  <a:tailEnd/>
                </a:ln>
              </p:spPr>
              <p:txBody>
                <a:bodyPr wrap="square" lIns="609600">
                  <a:spAutoFit/>
                </a:bodyPr>
                <a:lstStyle/>
                <a:p>
                  <a:r>
                    <a:rPr lang="en-US" sz="4800" dirty="0">
                      <a:solidFill>
                        <a:schemeClr val="bg1"/>
                      </a:solidFill>
                      <a:latin typeface="Calibri" panose="020F0502020204030204" pitchFamily="34" charset="0"/>
                      <a:cs typeface="Calibri" pitchFamily="34" charset="0"/>
                    </a:rPr>
                    <a:t>Authors: Kaiming Bi, Thuy Nguyen, Boya Peng, Trudy Krause, Cecillia Ganduglia Cazaban,</a:t>
                  </a:r>
                </a:p>
                <a:p>
                  <a:r>
                    <a:rPr lang="en-US" sz="4800" dirty="0">
                      <a:solidFill>
                        <a:schemeClr val="bg1"/>
                      </a:solidFill>
                      <a:latin typeface="Calibri" panose="020F0502020204030204" pitchFamily="34" charset="0"/>
                      <a:cs typeface="Calibri" pitchFamily="34" charset="0"/>
                    </a:rPr>
                    <a:t>Janelle Rios, Cici Bauer, Catherine Troisi, Eric Boerwinkle, Aanand Naik</a:t>
                  </a:r>
                </a:p>
              </p:txBody>
            </p:sp>
            <p:sp>
              <p:nvSpPr>
                <p:cNvPr id="74" name="TextBox 19"/>
                <p:cNvSpPr txBox="1">
                  <a:spLocks noChangeArrowheads="1"/>
                </p:cNvSpPr>
                <p:nvPr/>
              </p:nvSpPr>
              <p:spPr bwMode="auto">
                <a:xfrm>
                  <a:off x="25400" y="1828801"/>
                  <a:ext cx="26946489" cy="2754600"/>
                </a:xfrm>
                <a:prstGeom prst="rect">
                  <a:avLst/>
                </a:prstGeom>
                <a:grpFill/>
                <a:ln w="9525">
                  <a:noFill/>
                  <a:miter lim="800000"/>
                  <a:headEnd/>
                  <a:tailEnd/>
                </a:ln>
              </p:spPr>
              <p:txBody>
                <a:bodyPr wrap="square" lIns="609600" tIns="243840">
                  <a:spAutoFit/>
                </a:bodyPr>
                <a:lstStyle/>
                <a:p>
                  <a:r>
                    <a:rPr lang="en-US" sz="8000" dirty="0">
                      <a:solidFill>
                        <a:schemeClr val="bg1"/>
                      </a:solidFill>
                      <a:latin typeface="Calibri" panose="020F0502020204030204" pitchFamily="34" charset="0"/>
                      <a:cs typeface="Calibri" panose="020F0502020204030204" pitchFamily="34" charset="0"/>
                    </a:rPr>
                    <a:t>Modeling the impact of MMR Vaccination Strategies on Measles Outbreak in Texas</a:t>
                  </a:r>
                </a:p>
              </p:txBody>
            </p:sp>
          </p:grpSp>
          <p:cxnSp>
            <p:nvCxnSpPr>
              <p:cNvPr id="76" name="Straight Connector 22"/>
              <p:cNvCxnSpPr>
                <a:cxnSpLocks noChangeShapeType="1"/>
              </p:cNvCxnSpPr>
              <p:nvPr/>
            </p:nvCxnSpPr>
            <p:spPr bwMode="auto">
              <a:xfrm>
                <a:off x="401075" y="2538700"/>
                <a:ext cx="23533504" cy="0"/>
              </a:xfrm>
              <a:prstGeom prst="line">
                <a:avLst/>
              </a:prstGeom>
              <a:grpFill/>
              <a:ln w="9525" algn="ctr">
                <a:solidFill>
                  <a:schemeClr val="bg1"/>
                </a:solidFill>
                <a:round/>
                <a:headEnd/>
                <a:tailEnd/>
              </a:ln>
            </p:spPr>
          </p:cxnSp>
        </p:gr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p:blipFill>
          <p:spPr>
            <a:xfrm>
              <a:off x="34747200" y="-170024"/>
              <a:ext cx="8889796" cy="3657600"/>
            </a:xfrm>
            <a:prstGeom prst="rect">
              <a:avLst/>
            </a:prstGeom>
          </p:spPr>
        </p:pic>
      </p:grpSp>
      <p:grpSp>
        <p:nvGrpSpPr>
          <p:cNvPr id="52" name="Group 51">
            <a:extLst>
              <a:ext uri="{FF2B5EF4-FFF2-40B4-BE49-F238E27FC236}">
                <a16:creationId xmlns:a16="http://schemas.microsoft.com/office/drawing/2014/main" id="{952AECA5-82B8-495C-AF82-1960459E5D1F}"/>
              </a:ext>
            </a:extLst>
          </p:cNvPr>
          <p:cNvGrpSpPr/>
          <p:nvPr/>
        </p:nvGrpSpPr>
        <p:grpSpPr>
          <a:xfrm>
            <a:off x="23244504" y="29592098"/>
            <a:ext cx="19299227" cy="1821854"/>
            <a:chOff x="13087006" y="6428226"/>
            <a:chExt cx="12866151" cy="2404308"/>
          </a:xfrm>
        </p:grpSpPr>
        <p:sp>
          <p:nvSpPr>
            <p:cNvPr id="53" name="Text Box 41">
              <a:extLst>
                <a:ext uri="{FF2B5EF4-FFF2-40B4-BE49-F238E27FC236}">
                  <a16:creationId xmlns:a16="http://schemas.microsoft.com/office/drawing/2014/main" id="{AD0F537D-9198-462B-9D1D-7BDD7738583B}"/>
                </a:ext>
              </a:extLst>
            </p:cNvPr>
            <p:cNvSpPr txBox="1">
              <a:spLocks noChangeArrowheads="1"/>
            </p:cNvSpPr>
            <p:nvPr/>
          </p:nvSpPr>
          <p:spPr bwMode="auto">
            <a:xfrm>
              <a:off x="13087006" y="6428226"/>
              <a:ext cx="12801600" cy="1129608"/>
            </a:xfrm>
            <a:prstGeom prst="rect">
              <a:avLst/>
            </a:prstGeom>
            <a:solidFill>
              <a:srgbClr val="4E738A"/>
            </a:solidFill>
            <a:ln w="12700">
              <a:noFill/>
              <a:miter lim="800000"/>
              <a:headEnd/>
              <a:tailEnd/>
            </a:ln>
          </p:spPr>
          <p:txBody>
            <a:bodyPr wrap="square" anchor="ctr">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algn="ctr" defTabSz="6688499"/>
              <a:r>
                <a:rPr lang="en-US" sz="4267" b="1" dirty="0">
                  <a:solidFill>
                    <a:schemeClr val="bg1"/>
                  </a:solidFill>
                  <a:latin typeface="Calibri" pitchFamily="34" charset="0"/>
                  <a:cs typeface="Calibri" pitchFamily="34" charset="0"/>
                </a:rPr>
                <a:t>Reference</a:t>
              </a:r>
            </a:p>
          </p:txBody>
        </p:sp>
        <p:sp>
          <p:nvSpPr>
            <p:cNvPr id="54" name="Text Box 90">
              <a:extLst>
                <a:ext uri="{FF2B5EF4-FFF2-40B4-BE49-F238E27FC236}">
                  <a16:creationId xmlns:a16="http://schemas.microsoft.com/office/drawing/2014/main" id="{0334AEFD-E85F-4C37-A471-E144DF3FB7F5}"/>
                </a:ext>
              </a:extLst>
            </p:cNvPr>
            <p:cNvSpPr txBox="1">
              <a:spLocks noChangeArrowheads="1"/>
            </p:cNvSpPr>
            <p:nvPr/>
          </p:nvSpPr>
          <p:spPr bwMode="auto">
            <a:xfrm>
              <a:off x="13091922" y="7394524"/>
              <a:ext cx="12861235" cy="1438010"/>
            </a:xfrm>
            <a:prstGeom prst="rect">
              <a:avLst/>
            </a:prstGeom>
            <a:noFill/>
            <a:ln w="9525">
              <a:noFill/>
              <a:miter lim="800000"/>
              <a:headEnd/>
              <a:tailEnd/>
            </a:ln>
          </p:spPr>
          <p:txBody>
            <a:bodyPr wrap="square" lIns="0" tIns="0" rIns="0" bIns="0">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defTabSz="4180313">
                <a:spcBef>
                  <a:spcPct val="50000"/>
                </a:spcBef>
              </a:pPr>
              <a:endParaRPr lang="en-US" sz="4000" dirty="0">
                <a:latin typeface="Calibri" pitchFamily="34" charset="0"/>
                <a:cs typeface="Calibri" pitchFamily="34" charset="0"/>
              </a:endParaRPr>
            </a:p>
          </p:txBody>
        </p:sp>
      </p:grpSp>
      <p:grpSp>
        <p:nvGrpSpPr>
          <p:cNvPr id="10" name="Group 9">
            <a:extLst>
              <a:ext uri="{FF2B5EF4-FFF2-40B4-BE49-F238E27FC236}">
                <a16:creationId xmlns:a16="http://schemas.microsoft.com/office/drawing/2014/main" id="{0C28BA2A-8C91-498C-9897-B6DBE211A346}"/>
              </a:ext>
            </a:extLst>
          </p:cNvPr>
          <p:cNvGrpSpPr/>
          <p:nvPr/>
        </p:nvGrpSpPr>
        <p:grpSpPr>
          <a:xfrm>
            <a:off x="1109761" y="21084131"/>
            <a:ext cx="19202400" cy="7365312"/>
            <a:chOff x="1109762" y="17786540"/>
            <a:chExt cx="19202400" cy="5326110"/>
          </a:xfrm>
        </p:grpSpPr>
        <p:sp>
          <p:nvSpPr>
            <p:cNvPr id="12" name="TextBox 11">
              <a:extLst>
                <a:ext uri="{FF2B5EF4-FFF2-40B4-BE49-F238E27FC236}">
                  <a16:creationId xmlns:a16="http://schemas.microsoft.com/office/drawing/2014/main" id="{74F0F113-993B-414D-B10A-20D5830E4FD0}"/>
                </a:ext>
              </a:extLst>
            </p:cNvPr>
            <p:cNvSpPr txBox="1"/>
            <p:nvPr/>
          </p:nvSpPr>
          <p:spPr>
            <a:xfrm>
              <a:off x="1209563" y="18553431"/>
              <a:ext cx="7782039" cy="4559219"/>
            </a:xfrm>
            <a:prstGeom prst="rect">
              <a:avLst/>
            </a:prstGeom>
            <a:noFill/>
          </p:spPr>
          <p:txBody>
            <a:bodyPr wrap="square" rtlCol="0">
              <a:spAutoFit/>
            </a:bodyPr>
            <a:lstStyle/>
            <a:p>
              <a:r>
                <a:rPr lang="en-US" sz="3670" dirty="0">
                  <a:latin typeface="Calibri" panose="020F0502020204030204" pitchFamily="34" charset="0"/>
                  <a:ea typeface="Calibri" panose="020F0502020204030204" pitchFamily="34" charset="0"/>
                  <a:cs typeface="Calibri" panose="020F0502020204030204" pitchFamily="34" charset="0"/>
                </a:rPr>
                <a:t>We calibrated the mathematical model using reported case data from Gaines County and local vaccination rates. We then simulated three scenarios: (a) a </a:t>
              </a:r>
              <a:r>
                <a:rPr lang="en-US" sz="3670" b="1" dirty="0">
                  <a:latin typeface="Calibri" panose="020F0502020204030204" pitchFamily="34" charset="0"/>
                  <a:ea typeface="Calibri" panose="020F0502020204030204" pitchFamily="34" charset="0"/>
                  <a:cs typeface="Calibri" panose="020F0502020204030204" pitchFamily="34" charset="0"/>
                </a:rPr>
                <a:t>baseline</a:t>
              </a:r>
              <a:r>
                <a:rPr lang="en-US" sz="3670" dirty="0">
                  <a:latin typeface="Calibri" panose="020F0502020204030204" pitchFamily="34" charset="0"/>
                  <a:ea typeface="Calibri" panose="020F0502020204030204" pitchFamily="34" charset="0"/>
                  <a:cs typeface="Calibri" panose="020F0502020204030204" pitchFamily="34" charset="0"/>
                </a:rPr>
                <a:t> scenario using each county's reported vaccination rates, (b) a </a:t>
              </a:r>
              <a:r>
                <a:rPr lang="en-US" sz="3670" b="1" dirty="0">
                  <a:latin typeface="Calibri" panose="020F0502020204030204" pitchFamily="34" charset="0"/>
                  <a:ea typeface="Calibri" panose="020F0502020204030204" pitchFamily="34" charset="0"/>
                  <a:cs typeface="Calibri" panose="020F0502020204030204" pitchFamily="34" charset="0"/>
                </a:rPr>
                <a:t>5% reduction</a:t>
              </a:r>
              <a:r>
                <a:rPr lang="en-US" sz="3670" dirty="0">
                  <a:latin typeface="Calibri" panose="020F0502020204030204" pitchFamily="34" charset="0"/>
                  <a:ea typeface="Calibri" panose="020F0502020204030204" pitchFamily="34" charset="0"/>
                  <a:cs typeface="Calibri" panose="020F0502020204030204" pitchFamily="34" charset="0"/>
                </a:rPr>
                <a:t> in reported vaccination coverage, and (c) a </a:t>
              </a:r>
              <a:r>
                <a:rPr lang="en-US" sz="3670" b="1" dirty="0">
                  <a:latin typeface="Calibri" panose="020F0502020204030204" pitchFamily="34" charset="0"/>
                  <a:ea typeface="Calibri" panose="020F0502020204030204" pitchFamily="34" charset="0"/>
                  <a:cs typeface="Calibri" panose="020F0502020204030204" pitchFamily="34" charset="0"/>
                </a:rPr>
                <a:t>5% increase</a:t>
              </a:r>
              <a:r>
                <a:rPr lang="en-US" sz="3670" dirty="0">
                  <a:latin typeface="Calibri" panose="020F0502020204030204" pitchFamily="34" charset="0"/>
                  <a:ea typeface="Calibri" panose="020F0502020204030204" pitchFamily="34" charset="0"/>
                  <a:cs typeface="Calibri" panose="020F0502020204030204" pitchFamily="34" charset="0"/>
                </a:rPr>
                <a:t> in reported vaccination coverage. Epidemic dynamics were projected through June 10, 2025. </a:t>
              </a:r>
            </a:p>
          </p:txBody>
        </p:sp>
        <p:sp>
          <p:nvSpPr>
            <p:cNvPr id="55" name="Text Box 41">
              <a:extLst>
                <a:ext uri="{FF2B5EF4-FFF2-40B4-BE49-F238E27FC236}">
                  <a16:creationId xmlns:a16="http://schemas.microsoft.com/office/drawing/2014/main" id="{5C3E7530-A8B3-46DD-BC62-F871D5B0E565}"/>
                </a:ext>
              </a:extLst>
            </p:cNvPr>
            <p:cNvSpPr txBox="1">
              <a:spLocks noChangeArrowheads="1"/>
            </p:cNvSpPr>
            <p:nvPr/>
          </p:nvSpPr>
          <p:spPr bwMode="auto">
            <a:xfrm>
              <a:off x="1109762" y="17786540"/>
              <a:ext cx="19202400" cy="528987"/>
            </a:xfrm>
            <a:prstGeom prst="rect">
              <a:avLst/>
            </a:prstGeom>
            <a:solidFill>
              <a:srgbClr val="4E738A"/>
            </a:solidFill>
            <a:ln w="12700">
              <a:noFill/>
              <a:miter lim="800000"/>
              <a:headEnd/>
              <a:tailEnd/>
            </a:ln>
          </p:spPr>
          <p:txBody>
            <a:bodyPr wrap="square" anchor="ctr">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algn="ctr" defTabSz="6688499"/>
              <a:r>
                <a:rPr lang="en-US" sz="4267" b="1" dirty="0">
                  <a:solidFill>
                    <a:schemeClr val="bg1"/>
                  </a:solidFill>
                  <a:latin typeface="Calibri" pitchFamily="34" charset="0"/>
                  <a:cs typeface="Calibri" pitchFamily="34" charset="0"/>
                </a:rPr>
                <a:t>Scenario Projections in Gaines County</a:t>
              </a:r>
            </a:p>
          </p:txBody>
        </p:sp>
      </p:grpSp>
      <p:grpSp>
        <p:nvGrpSpPr>
          <p:cNvPr id="9" name="Group 8">
            <a:extLst>
              <a:ext uri="{FF2B5EF4-FFF2-40B4-BE49-F238E27FC236}">
                <a16:creationId xmlns:a16="http://schemas.microsoft.com/office/drawing/2014/main" id="{E755D9DB-8FCB-4D07-A024-41A121128F29}"/>
              </a:ext>
            </a:extLst>
          </p:cNvPr>
          <p:cNvGrpSpPr/>
          <p:nvPr/>
        </p:nvGrpSpPr>
        <p:grpSpPr>
          <a:xfrm>
            <a:off x="1109761" y="13266279"/>
            <a:ext cx="19202400" cy="5076679"/>
            <a:chOff x="1109762" y="10654051"/>
            <a:chExt cx="19202400" cy="4451062"/>
          </a:xfrm>
        </p:grpSpPr>
        <p:sp>
          <p:nvSpPr>
            <p:cNvPr id="4" name="TextBox 3">
              <a:extLst>
                <a:ext uri="{FF2B5EF4-FFF2-40B4-BE49-F238E27FC236}">
                  <a16:creationId xmlns:a16="http://schemas.microsoft.com/office/drawing/2014/main" id="{4B928FCD-D8DF-41AA-97C2-7CD507C342EE}"/>
                </a:ext>
              </a:extLst>
            </p:cNvPr>
            <p:cNvSpPr txBox="1"/>
            <p:nvPr/>
          </p:nvSpPr>
          <p:spPr>
            <a:xfrm>
              <a:off x="1109762" y="11377862"/>
              <a:ext cx="9382240" cy="3727251"/>
            </a:xfrm>
            <a:prstGeom prst="rect">
              <a:avLst/>
            </a:prstGeom>
            <a:noFill/>
          </p:spPr>
          <p:txBody>
            <a:bodyPr wrap="square" rtlCol="0">
              <a:spAutoFit/>
            </a:bodyPr>
            <a:lstStyle/>
            <a:p>
              <a:r>
                <a:rPr lang="en-US" sz="3670" dirty="0">
                  <a:latin typeface="Calibri" panose="020F0502020204030204" pitchFamily="34" charset="0"/>
                  <a:cs typeface="Calibri" panose="020F0502020204030204" pitchFamily="34" charset="0"/>
                </a:rPr>
                <a:t>W</a:t>
              </a:r>
              <a:r>
                <a:rPr lang="en-US" altLang="zh-CN" sz="3670" dirty="0">
                  <a:latin typeface="Calibri" panose="020F0502020204030204" pitchFamily="34" charset="0"/>
                  <a:cs typeface="Calibri" panose="020F0502020204030204" pitchFamily="34" charset="0"/>
                </a:rPr>
                <a:t>e</a:t>
              </a:r>
              <a:r>
                <a:rPr lang="en-US" sz="3670" dirty="0">
                  <a:latin typeface="Calibri" panose="020F0502020204030204" pitchFamily="34" charset="0"/>
                  <a:cs typeface="Calibri" panose="020F0502020204030204" pitchFamily="34" charset="0"/>
                </a:rPr>
                <a:t> collected demographic data and measles case information for Texas from multiple sources, including the U.S. Census Bureau and the Texas Department of State Health Services (DSHS). I also obtained annual MMR vaccination rates for Texas kindergarteners from DSHS and age breakdowns for measles cases and hospitalizations from the CDC.</a:t>
              </a:r>
            </a:p>
          </p:txBody>
        </p:sp>
        <p:sp>
          <p:nvSpPr>
            <p:cNvPr id="45" name="Text Box 41">
              <a:extLst>
                <a:ext uri="{FF2B5EF4-FFF2-40B4-BE49-F238E27FC236}">
                  <a16:creationId xmlns:a16="http://schemas.microsoft.com/office/drawing/2014/main" id="{3996DD61-BEDB-49F9-8BDC-F7CD896A9A61}"/>
                </a:ext>
              </a:extLst>
            </p:cNvPr>
            <p:cNvSpPr txBox="1">
              <a:spLocks noChangeArrowheads="1"/>
            </p:cNvSpPr>
            <p:nvPr/>
          </p:nvSpPr>
          <p:spPr bwMode="auto">
            <a:xfrm>
              <a:off x="1109762" y="10654051"/>
              <a:ext cx="19202400" cy="641372"/>
            </a:xfrm>
            <a:prstGeom prst="rect">
              <a:avLst/>
            </a:prstGeom>
            <a:solidFill>
              <a:srgbClr val="4E738A"/>
            </a:solidFill>
            <a:ln w="12700">
              <a:noFill/>
              <a:miter lim="800000"/>
              <a:headEnd/>
              <a:tailEnd/>
            </a:ln>
          </p:spPr>
          <p:txBody>
            <a:bodyPr wrap="square" anchor="ctr">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algn="ctr" defTabSz="6688499"/>
              <a:r>
                <a:rPr lang="en-US" sz="4267" b="1" dirty="0">
                  <a:solidFill>
                    <a:schemeClr val="bg1"/>
                  </a:solidFill>
                  <a:latin typeface="Calibri" pitchFamily="34" charset="0"/>
                  <a:cs typeface="Calibri" pitchFamily="34" charset="0"/>
                </a:rPr>
                <a:t>Methods and Data</a:t>
              </a:r>
            </a:p>
          </p:txBody>
        </p:sp>
      </p:grpSp>
      <p:grpSp>
        <p:nvGrpSpPr>
          <p:cNvPr id="6" name="Group 5">
            <a:extLst>
              <a:ext uri="{FF2B5EF4-FFF2-40B4-BE49-F238E27FC236}">
                <a16:creationId xmlns:a16="http://schemas.microsoft.com/office/drawing/2014/main" id="{CE62D7E5-DF0C-43D0-BA4F-1E985E37B8A0}"/>
              </a:ext>
            </a:extLst>
          </p:cNvPr>
          <p:cNvGrpSpPr/>
          <p:nvPr/>
        </p:nvGrpSpPr>
        <p:grpSpPr>
          <a:xfrm>
            <a:off x="23244504" y="21171552"/>
            <a:ext cx="19646229" cy="8220314"/>
            <a:chOff x="23244504" y="17655401"/>
            <a:chExt cx="19646229" cy="12892612"/>
          </a:xfrm>
        </p:grpSpPr>
        <p:sp>
          <p:nvSpPr>
            <p:cNvPr id="44" name="Text Box 41">
              <a:extLst>
                <a:ext uri="{FF2B5EF4-FFF2-40B4-BE49-F238E27FC236}">
                  <a16:creationId xmlns:a16="http://schemas.microsoft.com/office/drawing/2014/main" id="{F6783274-A47B-4AC9-B193-59B989FF6E17}"/>
                </a:ext>
              </a:extLst>
            </p:cNvPr>
            <p:cNvSpPr txBox="1">
              <a:spLocks noChangeArrowheads="1"/>
            </p:cNvSpPr>
            <p:nvPr/>
          </p:nvSpPr>
          <p:spPr bwMode="auto">
            <a:xfrm>
              <a:off x="23244504" y="17655401"/>
              <a:ext cx="19202400" cy="1177264"/>
            </a:xfrm>
            <a:prstGeom prst="rect">
              <a:avLst/>
            </a:prstGeom>
            <a:solidFill>
              <a:srgbClr val="4E738A"/>
            </a:solidFill>
            <a:ln w="12700">
              <a:noFill/>
              <a:miter lim="800000"/>
              <a:headEnd/>
              <a:tailEnd/>
            </a:ln>
          </p:spPr>
          <p:txBody>
            <a:bodyPr wrap="square" anchor="ctr">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algn="ctr" defTabSz="6688499"/>
              <a:r>
                <a:rPr lang="en-US" sz="4267" b="1" dirty="0">
                  <a:solidFill>
                    <a:schemeClr val="bg1"/>
                  </a:solidFill>
                  <a:latin typeface="Calibri" pitchFamily="34" charset="0"/>
                  <a:cs typeface="Calibri" pitchFamily="34" charset="0"/>
                </a:rPr>
                <a:t>Takeaway</a:t>
              </a:r>
            </a:p>
          </p:txBody>
        </p:sp>
        <p:grpSp>
          <p:nvGrpSpPr>
            <p:cNvPr id="88" name="Group 87">
              <a:extLst>
                <a:ext uri="{FF2B5EF4-FFF2-40B4-BE49-F238E27FC236}">
                  <a16:creationId xmlns:a16="http://schemas.microsoft.com/office/drawing/2014/main" id="{987ADA64-B05C-4AD1-B93A-CBAD44E20CF2}"/>
                </a:ext>
              </a:extLst>
            </p:cNvPr>
            <p:cNvGrpSpPr/>
            <p:nvPr/>
          </p:nvGrpSpPr>
          <p:grpSpPr>
            <a:xfrm>
              <a:off x="23244504" y="18738792"/>
              <a:ext cx="19646229" cy="11809221"/>
              <a:chOff x="1747880" y="1792878"/>
              <a:chExt cx="8927930" cy="4608875"/>
            </a:xfrm>
          </p:grpSpPr>
          <p:sp>
            <p:nvSpPr>
              <p:cNvPr id="96" name="Freeform: Shape 95">
                <a:extLst>
                  <a:ext uri="{FF2B5EF4-FFF2-40B4-BE49-F238E27FC236}">
                    <a16:creationId xmlns:a16="http://schemas.microsoft.com/office/drawing/2014/main" id="{DE3F559E-123B-466E-8421-10ED6C8C1BE2}"/>
                  </a:ext>
                </a:extLst>
              </p:cNvPr>
              <p:cNvSpPr/>
              <p:nvPr/>
            </p:nvSpPr>
            <p:spPr>
              <a:xfrm>
                <a:off x="2596060" y="1792878"/>
                <a:ext cx="1970602" cy="3272241"/>
              </a:xfrm>
              <a:custGeom>
                <a:avLst/>
                <a:gdLst>
                  <a:gd name="connsiteX0" fmla="*/ 0 w 1970602"/>
                  <a:gd name="connsiteY0" fmla="*/ 0 h 3272241"/>
                  <a:gd name="connsiteX1" fmla="*/ 1970602 w 1970602"/>
                  <a:gd name="connsiteY1" fmla="*/ 0 h 3272241"/>
                  <a:gd name="connsiteX2" fmla="*/ 1970602 w 1970602"/>
                  <a:gd name="connsiteY2" fmla="*/ 3272241 h 3272241"/>
                  <a:gd name="connsiteX3" fmla="*/ 0 w 1970602"/>
                  <a:gd name="connsiteY3" fmla="*/ 3272241 h 3272241"/>
                  <a:gd name="connsiteX4" fmla="*/ 0 w 1970602"/>
                  <a:gd name="connsiteY4" fmla="*/ 0 h 3272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02" h="3272241">
                    <a:moveTo>
                      <a:pt x="0" y="0"/>
                    </a:moveTo>
                    <a:lnTo>
                      <a:pt x="1970602" y="0"/>
                    </a:lnTo>
                    <a:lnTo>
                      <a:pt x="1970602" y="3272241"/>
                    </a:lnTo>
                    <a:lnTo>
                      <a:pt x="0" y="3272241"/>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endParaRPr lang="en-US" sz="1800" kern="1200" dirty="0"/>
              </a:p>
              <a:p>
                <a:pPr marL="0" lvl="0" indent="0" algn="l" defTabSz="800100">
                  <a:lnSpc>
                    <a:spcPct val="90000"/>
                  </a:lnSpc>
                  <a:spcBef>
                    <a:spcPct val="0"/>
                  </a:spcBef>
                  <a:spcAft>
                    <a:spcPct val="35000"/>
                  </a:spcAft>
                  <a:buNone/>
                </a:pPr>
                <a:endParaRPr lang="en-US" sz="1800" kern="1200" dirty="0"/>
              </a:p>
            </p:txBody>
          </p:sp>
          <p:sp>
            <p:nvSpPr>
              <p:cNvPr id="92" name="TextBox 91">
                <a:extLst>
                  <a:ext uri="{FF2B5EF4-FFF2-40B4-BE49-F238E27FC236}">
                    <a16:creationId xmlns:a16="http://schemas.microsoft.com/office/drawing/2014/main" id="{B8E46DDC-A454-4BC7-8135-3F2E1863D0C0}"/>
                  </a:ext>
                </a:extLst>
              </p:cNvPr>
              <p:cNvSpPr txBox="1"/>
              <p:nvPr/>
            </p:nvSpPr>
            <p:spPr>
              <a:xfrm>
                <a:off x="1747880" y="1841224"/>
                <a:ext cx="8927930" cy="4560529"/>
              </a:xfrm>
              <a:prstGeom prst="rect">
                <a:avLst/>
              </a:prstGeom>
              <a:noFill/>
            </p:spPr>
            <p:txBody>
              <a:bodyPr wrap="square" rtlCol="0">
                <a:spAutoFit/>
              </a:bodyPr>
              <a:lstStyle/>
              <a:p>
                <a:pPr marL="571500" indent="-571500">
                  <a:buFont typeface="Arial" panose="020B0604020202020204" pitchFamily="34" charset="0"/>
                  <a:buChar char="•"/>
                </a:pPr>
                <a:r>
                  <a:rPr lang="en-US" sz="3670" b="1" dirty="0">
                    <a:latin typeface="Calibri" panose="020F0502020204030204" pitchFamily="34" charset="0"/>
                    <a:cs typeface="Calibri" panose="020F0502020204030204" pitchFamily="34" charset="0"/>
                  </a:rPr>
                  <a:t>Vaccination is Key to Prevention</a:t>
                </a:r>
                <a:r>
                  <a:rPr lang="en-US" sz="3670" dirty="0">
                    <a:latin typeface="Calibri" panose="020F0502020204030204" pitchFamily="34" charset="0"/>
                    <a:cs typeface="Calibri" panose="020F0502020204030204" pitchFamily="34" charset="0"/>
                  </a:rPr>
                  <a:t>: The research underscores the critical importance of increasing MMR vaccination coverage to prevent major measles outbreaks, especially in areas with falling immunization rates.</a:t>
                </a:r>
              </a:p>
              <a:p>
                <a:pPr marL="571500" indent="-571500">
                  <a:buFont typeface="Arial" panose="020B0604020202020204" pitchFamily="34" charset="0"/>
                  <a:buChar char="•"/>
                </a:pPr>
                <a:r>
                  <a:rPr lang="en-US" sz="3670" b="1" dirty="0">
                    <a:latin typeface="Calibri" panose="020F0502020204030204" pitchFamily="34" charset="0"/>
                    <a:cs typeface="Calibri" panose="020F0502020204030204" pitchFamily="34" charset="0"/>
                  </a:rPr>
                  <a:t>Modeling as a Pandemic Preparedness Tool</a:t>
                </a:r>
                <a:r>
                  <a:rPr lang="en-US" sz="3670" dirty="0">
                    <a:latin typeface="Calibri" panose="020F0502020204030204" pitchFamily="34" charset="0"/>
                    <a:cs typeface="Calibri" panose="020F0502020204030204" pitchFamily="34" charset="0"/>
                  </a:rPr>
                  <a:t>: Despite the need for assumptions about unknown factors, such as case importation and transmission dynamics, mathematical modeling is a valuable tool for public health. By simulating different scenarios, it helps prepare for and respond to potential epidemics.</a:t>
                </a:r>
              </a:p>
              <a:p>
                <a:pPr marL="571500" indent="-571500">
                  <a:buFont typeface="Arial" panose="020B0604020202020204" pitchFamily="34" charset="0"/>
                  <a:buChar char="•"/>
                </a:pPr>
                <a:r>
                  <a:rPr lang="en-US" sz="3670" b="1" dirty="0">
                    <a:latin typeface="Calibri" panose="020F0502020204030204" pitchFamily="34" charset="0"/>
                    <a:cs typeface="Calibri" panose="020F0502020204030204" pitchFamily="34" charset="0"/>
                  </a:rPr>
                  <a:t>Adaptability of the Model</a:t>
                </a:r>
                <a:r>
                  <a:rPr lang="en-US" sz="3670" dirty="0">
                    <a:latin typeface="Calibri" panose="020F0502020204030204" pitchFamily="34" charset="0"/>
                    <a:cs typeface="Calibri" panose="020F0502020204030204" pitchFamily="34" charset="0"/>
                  </a:rPr>
                  <a:t>: The modeling framework developed in this study is highly adaptable and can be applied to other locations, provided there is sufficient epidemiological and vaccination data. This suggests its utility extends beyond the specific context of Texas.</a:t>
                </a:r>
              </a:p>
              <a:p>
                <a:pPr marL="571500" indent="-571500">
                  <a:buFont typeface="Arial" panose="020B0604020202020204" pitchFamily="34" charset="0"/>
                  <a:buChar char="•"/>
                </a:pPr>
                <a:r>
                  <a:rPr lang="en-US" sz="3670" b="1" dirty="0">
                    <a:latin typeface="Calibri" panose="020F0502020204030204" pitchFamily="34" charset="0"/>
                    <a:cs typeface="Calibri" panose="020F0502020204030204" pitchFamily="34" charset="0"/>
                  </a:rPr>
                  <a:t>Addressing Data Gaps</a:t>
                </a:r>
                <a:r>
                  <a:rPr lang="en-US" sz="3670" dirty="0">
                    <a:latin typeface="Calibri" panose="020F0502020204030204" pitchFamily="34" charset="0"/>
                    <a:cs typeface="Calibri" panose="020F0502020204030204" pitchFamily="34" charset="0"/>
                  </a:rPr>
                  <a:t>: The study highlights the need for better data on factors like undocumented vaccination rates and the behavior of unvaccinated populations during an outbreak. Improving data collection in these areas would enhance the accuracy and reliability of future outbreak projections.</a:t>
                </a:r>
              </a:p>
            </p:txBody>
          </p:sp>
        </p:grpSp>
      </p:grpSp>
      <p:sp>
        <p:nvSpPr>
          <p:cNvPr id="46" name="Text Box 41">
            <a:extLst>
              <a:ext uri="{FF2B5EF4-FFF2-40B4-BE49-F238E27FC236}">
                <a16:creationId xmlns:a16="http://schemas.microsoft.com/office/drawing/2014/main" id="{34B41481-A322-45C1-9487-5531CDB57FDC}"/>
              </a:ext>
            </a:extLst>
          </p:cNvPr>
          <p:cNvSpPr txBox="1">
            <a:spLocks noChangeArrowheads="1"/>
          </p:cNvSpPr>
          <p:nvPr/>
        </p:nvSpPr>
        <p:spPr bwMode="auto">
          <a:xfrm>
            <a:off x="23244504" y="4426525"/>
            <a:ext cx="19202400" cy="731520"/>
          </a:xfrm>
          <a:prstGeom prst="rect">
            <a:avLst/>
          </a:prstGeom>
          <a:solidFill>
            <a:srgbClr val="4E738A"/>
          </a:solidFill>
          <a:ln w="12700">
            <a:noFill/>
            <a:miter lim="800000"/>
            <a:headEnd/>
            <a:tailEnd/>
          </a:ln>
        </p:spPr>
        <p:txBody>
          <a:bodyPr wrap="square" anchor="ctr">
            <a:spAutoFit/>
          </a:bodyPr>
          <a:lstStyle>
            <a:defPPr>
              <a:defRPr lang="en-US"/>
            </a:defPPr>
            <a:lvl1pPr marL="0" algn="l" defTabSz="2508016" rtl="0" eaLnBrk="1" latinLnBrk="0" hangingPunct="1">
              <a:defRPr sz="4900" kern="1200">
                <a:solidFill>
                  <a:schemeClr val="tx1"/>
                </a:solidFill>
                <a:latin typeface="+mn-lt"/>
                <a:ea typeface="+mn-ea"/>
                <a:cs typeface="+mn-cs"/>
              </a:defRPr>
            </a:lvl1pPr>
            <a:lvl2pPr marL="1254008" algn="l" defTabSz="2508016" rtl="0" eaLnBrk="1" latinLnBrk="0" hangingPunct="1">
              <a:defRPr sz="4900" kern="1200">
                <a:solidFill>
                  <a:schemeClr val="tx1"/>
                </a:solidFill>
                <a:latin typeface="+mn-lt"/>
                <a:ea typeface="+mn-ea"/>
                <a:cs typeface="+mn-cs"/>
              </a:defRPr>
            </a:lvl2pPr>
            <a:lvl3pPr marL="2508016" algn="l" defTabSz="2508016" rtl="0" eaLnBrk="1" latinLnBrk="0" hangingPunct="1">
              <a:defRPr sz="4900" kern="1200">
                <a:solidFill>
                  <a:schemeClr val="tx1"/>
                </a:solidFill>
                <a:latin typeface="+mn-lt"/>
                <a:ea typeface="+mn-ea"/>
                <a:cs typeface="+mn-cs"/>
              </a:defRPr>
            </a:lvl3pPr>
            <a:lvl4pPr marL="3762024" algn="l" defTabSz="2508016" rtl="0" eaLnBrk="1" latinLnBrk="0" hangingPunct="1">
              <a:defRPr sz="4900" kern="1200">
                <a:solidFill>
                  <a:schemeClr val="tx1"/>
                </a:solidFill>
                <a:latin typeface="+mn-lt"/>
                <a:ea typeface="+mn-ea"/>
                <a:cs typeface="+mn-cs"/>
              </a:defRPr>
            </a:lvl4pPr>
            <a:lvl5pPr marL="5016033" algn="l" defTabSz="2508016" rtl="0" eaLnBrk="1" latinLnBrk="0" hangingPunct="1">
              <a:defRPr sz="4900" kern="1200">
                <a:solidFill>
                  <a:schemeClr val="tx1"/>
                </a:solidFill>
                <a:latin typeface="+mn-lt"/>
                <a:ea typeface="+mn-ea"/>
                <a:cs typeface="+mn-cs"/>
              </a:defRPr>
            </a:lvl5pPr>
            <a:lvl6pPr marL="6270041" algn="l" defTabSz="2508016" rtl="0" eaLnBrk="1" latinLnBrk="0" hangingPunct="1">
              <a:defRPr sz="4900" kern="1200">
                <a:solidFill>
                  <a:schemeClr val="tx1"/>
                </a:solidFill>
                <a:latin typeface="+mn-lt"/>
                <a:ea typeface="+mn-ea"/>
                <a:cs typeface="+mn-cs"/>
              </a:defRPr>
            </a:lvl6pPr>
            <a:lvl7pPr marL="7524049" algn="l" defTabSz="2508016" rtl="0" eaLnBrk="1" latinLnBrk="0" hangingPunct="1">
              <a:defRPr sz="4900" kern="1200">
                <a:solidFill>
                  <a:schemeClr val="tx1"/>
                </a:solidFill>
                <a:latin typeface="+mn-lt"/>
                <a:ea typeface="+mn-ea"/>
                <a:cs typeface="+mn-cs"/>
              </a:defRPr>
            </a:lvl7pPr>
            <a:lvl8pPr marL="8778057" algn="l" defTabSz="2508016" rtl="0" eaLnBrk="1" latinLnBrk="0" hangingPunct="1">
              <a:defRPr sz="4900" kern="1200">
                <a:solidFill>
                  <a:schemeClr val="tx1"/>
                </a:solidFill>
                <a:latin typeface="+mn-lt"/>
                <a:ea typeface="+mn-ea"/>
                <a:cs typeface="+mn-cs"/>
              </a:defRPr>
            </a:lvl8pPr>
            <a:lvl9pPr marL="10032065" algn="l" defTabSz="2508016" rtl="0" eaLnBrk="1" latinLnBrk="0" hangingPunct="1">
              <a:defRPr sz="4900" kern="1200">
                <a:solidFill>
                  <a:schemeClr val="tx1"/>
                </a:solidFill>
                <a:latin typeface="+mn-lt"/>
                <a:ea typeface="+mn-ea"/>
                <a:cs typeface="+mn-cs"/>
              </a:defRPr>
            </a:lvl9pPr>
          </a:lstStyle>
          <a:p>
            <a:pPr algn="ctr" defTabSz="6688499"/>
            <a:r>
              <a:rPr lang="en-US" sz="4267" b="1" dirty="0">
                <a:solidFill>
                  <a:schemeClr val="bg1"/>
                </a:solidFill>
                <a:latin typeface="Calibri" pitchFamily="34" charset="0"/>
                <a:cs typeface="Calibri" pitchFamily="34" charset="0"/>
              </a:rPr>
              <a:t>Hypothetical Scenario Projections in Texas</a:t>
            </a:r>
          </a:p>
        </p:txBody>
      </p:sp>
      <p:pic>
        <p:nvPicPr>
          <p:cNvPr id="18" name="Picture 17" descr="A brown rectangular sign with white text&#10;&#10;AI-generated content may be incorrect.">
            <a:extLst>
              <a:ext uri="{FF2B5EF4-FFF2-40B4-BE49-F238E27FC236}">
                <a16:creationId xmlns:a16="http://schemas.microsoft.com/office/drawing/2014/main" id="{8FB114C5-BAFE-5B2E-7F6A-BB4B96D68F67}"/>
              </a:ext>
            </a:extLst>
          </p:cNvPr>
          <p:cNvPicPr>
            <a:picLocks noChangeAspect="1"/>
          </p:cNvPicPr>
          <p:nvPr/>
        </p:nvPicPr>
        <p:blipFill>
          <a:blip r:embed="rId4">
            <a:extLst>
              <a:ext uri="{28A0092B-C50C-407E-A947-70E740481C1C}">
                <a14:useLocalDpi xmlns:a14="http://schemas.microsoft.com/office/drawing/2010/main" val="0"/>
              </a:ext>
            </a:extLst>
          </a:blip>
          <a:srcRect l="15904" t="28043" r="16127" b="22708"/>
          <a:stretch>
            <a:fillRect/>
          </a:stretch>
        </p:blipFill>
        <p:spPr>
          <a:xfrm>
            <a:off x="26371590" y="348463"/>
            <a:ext cx="8614274" cy="3486646"/>
          </a:xfrm>
          <a:prstGeom prst="rect">
            <a:avLst/>
          </a:prstGeom>
        </p:spPr>
      </p:pic>
      <p:pic>
        <p:nvPicPr>
          <p:cNvPr id="22" name="Picture 21">
            <a:extLst>
              <a:ext uri="{FF2B5EF4-FFF2-40B4-BE49-F238E27FC236}">
                <a16:creationId xmlns:a16="http://schemas.microsoft.com/office/drawing/2014/main" id="{EC8EE7C7-7356-46F6-B6B5-8F41EA32404D}"/>
              </a:ext>
            </a:extLst>
          </p:cNvPr>
          <p:cNvPicPr>
            <a:picLocks noChangeAspect="1"/>
          </p:cNvPicPr>
          <p:nvPr/>
        </p:nvPicPr>
        <p:blipFill>
          <a:blip r:embed="rId5"/>
          <a:stretch>
            <a:fillRect/>
          </a:stretch>
        </p:blipFill>
        <p:spPr>
          <a:xfrm>
            <a:off x="11201100" y="5964366"/>
            <a:ext cx="8882762" cy="5138954"/>
          </a:xfrm>
          <a:prstGeom prst="rect">
            <a:avLst/>
          </a:prstGeom>
        </p:spPr>
      </p:pic>
      <p:sp>
        <p:nvSpPr>
          <p:cNvPr id="25" name="TextBox 24">
            <a:extLst>
              <a:ext uri="{FF2B5EF4-FFF2-40B4-BE49-F238E27FC236}">
                <a16:creationId xmlns:a16="http://schemas.microsoft.com/office/drawing/2014/main" id="{2A713957-C97D-941C-693A-7046FDB99B1B}"/>
              </a:ext>
            </a:extLst>
          </p:cNvPr>
          <p:cNvSpPr txBox="1"/>
          <p:nvPr/>
        </p:nvSpPr>
        <p:spPr>
          <a:xfrm>
            <a:off x="11087100" y="11280453"/>
            <a:ext cx="9110761" cy="1077218"/>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Figure 1. </a:t>
            </a:r>
            <a:r>
              <a:rPr lang="en-US" sz="3200" dirty="0">
                <a:latin typeface="Calibri" panose="020F0502020204030204" pitchFamily="34" charset="0"/>
                <a:cs typeface="Calibri" panose="020F0502020204030204" pitchFamily="34" charset="0"/>
              </a:rPr>
              <a:t>Vaccination rates for kindergarten students from 2013 to 2025 in Gaines County and Texas. </a:t>
            </a:r>
          </a:p>
        </p:txBody>
      </p:sp>
      <p:sp>
        <p:nvSpPr>
          <p:cNvPr id="27" name="TextBox 26">
            <a:extLst>
              <a:ext uri="{FF2B5EF4-FFF2-40B4-BE49-F238E27FC236}">
                <a16:creationId xmlns:a16="http://schemas.microsoft.com/office/drawing/2014/main" id="{AD881C1B-3556-AAF2-89EA-587468C3C331}"/>
              </a:ext>
            </a:extLst>
          </p:cNvPr>
          <p:cNvSpPr txBox="1"/>
          <p:nvPr/>
        </p:nvSpPr>
        <p:spPr>
          <a:xfrm>
            <a:off x="1109761" y="18978116"/>
            <a:ext cx="19202400" cy="1786643"/>
          </a:xfrm>
          <a:prstGeom prst="rect">
            <a:avLst/>
          </a:prstGeom>
          <a:noFill/>
        </p:spPr>
        <p:txBody>
          <a:bodyPr wrap="square">
            <a:spAutoFit/>
          </a:bodyPr>
          <a:lstStyle/>
          <a:p>
            <a:r>
              <a:rPr lang="en-US" sz="3670" dirty="0">
                <a:latin typeface="Calibri" panose="020F0502020204030204" pitchFamily="34" charset="0"/>
                <a:cs typeface="Calibri" panose="020F0502020204030204" pitchFamily="34" charset="0"/>
              </a:rPr>
              <a:t>We employed an age-structured SEIR model to simulate measles transmission dynamics, incorporating health outcomes such as hospitalizations and deaths. The population was segmented into three age groups—0-4, 5-19, and 20+ years.</a:t>
            </a:r>
          </a:p>
        </p:txBody>
      </p:sp>
      <p:sp>
        <p:nvSpPr>
          <p:cNvPr id="30" name="TextBox 29">
            <a:extLst>
              <a:ext uri="{FF2B5EF4-FFF2-40B4-BE49-F238E27FC236}">
                <a16:creationId xmlns:a16="http://schemas.microsoft.com/office/drawing/2014/main" id="{952E6C13-0528-8CCF-C760-20671A12A940}"/>
              </a:ext>
            </a:extLst>
          </p:cNvPr>
          <p:cNvSpPr txBox="1"/>
          <p:nvPr/>
        </p:nvSpPr>
        <p:spPr>
          <a:xfrm>
            <a:off x="11201100" y="18586904"/>
            <a:ext cx="8783816"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Figure 2.</a:t>
            </a:r>
            <a:r>
              <a:rPr lang="zh-CN" alt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Diagram of measles transmission model.</a:t>
            </a:r>
          </a:p>
        </p:txBody>
      </p:sp>
      <p:pic>
        <p:nvPicPr>
          <p:cNvPr id="32" name="Picture 31">
            <a:extLst>
              <a:ext uri="{FF2B5EF4-FFF2-40B4-BE49-F238E27FC236}">
                <a16:creationId xmlns:a16="http://schemas.microsoft.com/office/drawing/2014/main" id="{8FEEA123-4FD6-BDD4-1593-3E306F0FE815}"/>
              </a:ext>
            </a:extLst>
          </p:cNvPr>
          <p:cNvPicPr>
            <a:picLocks noChangeAspect="1"/>
          </p:cNvPicPr>
          <p:nvPr/>
        </p:nvPicPr>
        <p:blipFill>
          <a:blip r:embed="rId6"/>
          <a:stretch>
            <a:fillRect/>
          </a:stretch>
        </p:blipFill>
        <p:spPr>
          <a:xfrm>
            <a:off x="9162560" y="22322499"/>
            <a:ext cx="10822356" cy="6014773"/>
          </a:xfrm>
          <a:prstGeom prst="rect">
            <a:avLst/>
          </a:prstGeom>
        </p:spPr>
      </p:pic>
      <p:sp>
        <p:nvSpPr>
          <p:cNvPr id="33" name="TextBox 32">
            <a:extLst>
              <a:ext uri="{FF2B5EF4-FFF2-40B4-BE49-F238E27FC236}">
                <a16:creationId xmlns:a16="http://schemas.microsoft.com/office/drawing/2014/main" id="{5462A225-0E92-E3EB-F8FC-7A545CEB5B06}"/>
              </a:ext>
            </a:extLst>
          </p:cNvPr>
          <p:cNvSpPr txBox="1"/>
          <p:nvPr/>
        </p:nvSpPr>
        <p:spPr>
          <a:xfrm>
            <a:off x="1209562" y="28514566"/>
            <a:ext cx="19202400" cy="2916183"/>
          </a:xfrm>
          <a:prstGeom prst="rect">
            <a:avLst/>
          </a:prstGeom>
          <a:noFill/>
        </p:spPr>
        <p:txBody>
          <a:bodyPr wrap="square">
            <a:spAutoFit/>
          </a:bodyPr>
          <a:lstStyle/>
          <a:p>
            <a:r>
              <a:rPr lang="en-US" sz="3670" dirty="0">
                <a:latin typeface="Calibri" panose="020F0502020204030204" pitchFamily="34" charset="0"/>
                <a:ea typeface="Calibri" panose="020F0502020204030204" pitchFamily="34" charset="0"/>
                <a:cs typeface="Calibri" panose="020F0502020204030204" pitchFamily="34" charset="0"/>
              </a:rPr>
              <a:t>The baseline scenario projects 401 </a:t>
            </a:r>
          </a:p>
          <a:p>
            <a:r>
              <a:rPr lang="en-US" sz="3670" dirty="0">
                <a:latin typeface="Calibri" panose="020F0502020204030204" pitchFamily="34" charset="0"/>
                <a:ea typeface="Calibri" panose="020F0502020204030204" pitchFamily="34" charset="0"/>
                <a:cs typeface="Calibri" panose="020F0502020204030204" pitchFamily="34" charset="0"/>
              </a:rPr>
              <a:t>cumulative cases (95% CI: 353, 439) and 77 cumulative hospitalizations (95% CI: 68, 85). A 5% reduction in vaccination coverage increases these numbers to 511 cases (95% CI: 452, 567) and 94 hospitalizations (95% CI: 83, 105), while a 5% increase in coverage reduces them to 211 cases (95% CI: 188, 234) and 42 hospitalizations (95% CI: 37, 48).</a:t>
            </a:r>
          </a:p>
        </p:txBody>
      </p:sp>
      <p:pic>
        <p:nvPicPr>
          <p:cNvPr id="38" name="Picture 37" descr="A group of colorful squares with letters&#10;&#10;AI-generated content may be incorrect.">
            <a:extLst>
              <a:ext uri="{FF2B5EF4-FFF2-40B4-BE49-F238E27FC236}">
                <a16:creationId xmlns:a16="http://schemas.microsoft.com/office/drawing/2014/main" id="{99DD54B7-3D2F-2F5E-91F2-2479967D3F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01100" y="14154848"/>
            <a:ext cx="9110761" cy="4328209"/>
          </a:xfrm>
          <a:prstGeom prst="rect">
            <a:avLst/>
          </a:prstGeom>
        </p:spPr>
      </p:pic>
      <p:sp>
        <p:nvSpPr>
          <p:cNvPr id="39" name="TextBox 38">
            <a:extLst>
              <a:ext uri="{FF2B5EF4-FFF2-40B4-BE49-F238E27FC236}">
                <a16:creationId xmlns:a16="http://schemas.microsoft.com/office/drawing/2014/main" id="{A00E5A16-7F7D-F064-B4A4-1ACF177E0948}"/>
              </a:ext>
            </a:extLst>
          </p:cNvPr>
          <p:cNvSpPr txBox="1"/>
          <p:nvPr/>
        </p:nvSpPr>
        <p:spPr>
          <a:xfrm>
            <a:off x="9162560" y="28337272"/>
            <a:ext cx="10921302"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Figure 3.</a:t>
            </a:r>
            <a:r>
              <a:rPr lang="zh-CN" alt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Scenario projection results for Gaines County.</a:t>
            </a:r>
          </a:p>
        </p:txBody>
      </p:sp>
      <p:pic>
        <p:nvPicPr>
          <p:cNvPr id="41" name="Picture 40">
            <a:extLst>
              <a:ext uri="{FF2B5EF4-FFF2-40B4-BE49-F238E27FC236}">
                <a16:creationId xmlns:a16="http://schemas.microsoft.com/office/drawing/2014/main" id="{831C9CA8-10C3-4DC8-60D4-0C0853567654}"/>
              </a:ext>
            </a:extLst>
          </p:cNvPr>
          <p:cNvPicPr>
            <a:picLocks noChangeAspect="1"/>
          </p:cNvPicPr>
          <p:nvPr/>
        </p:nvPicPr>
        <p:blipFill>
          <a:blip r:embed="rId8"/>
          <a:srcRect b="618"/>
          <a:stretch>
            <a:fillRect/>
          </a:stretch>
        </p:blipFill>
        <p:spPr>
          <a:xfrm>
            <a:off x="31702704" y="5325684"/>
            <a:ext cx="10744200" cy="13672177"/>
          </a:xfrm>
          <a:prstGeom prst="rect">
            <a:avLst/>
          </a:prstGeom>
        </p:spPr>
      </p:pic>
      <p:sp>
        <p:nvSpPr>
          <p:cNvPr id="43" name="TextBox 42">
            <a:extLst>
              <a:ext uri="{FF2B5EF4-FFF2-40B4-BE49-F238E27FC236}">
                <a16:creationId xmlns:a16="http://schemas.microsoft.com/office/drawing/2014/main" id="{39AB592F-1DF4-4388-C024-201DE995664E}"/>
              </a:ext>
            </a:extLst>
          </p:cNvPr>
          <p:cNvSpPr txBox="1"/>
          <p:nvPr/>
        </p:nvSpPr>
        <p:spPr>
          <a:xfrm>
            <a:off x="31451981" y="19087937"/>
            <a:ext cx="10972800" cy="2062103"/>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Figure 4. </a:t>
            </a:r>
            <a:r>
              <a:rPr lang="en-US" sz="3200" dirty="0">
                <a:latin typeface="Calibri" panose="020F0502020204030204" pitchFamily="34" charset="0"/>
                <a:cs typeface="Calibri" panose="020F0502020204030204" pitchFamily="34" charset="0"/>
              </a:rPr>
              <a:t>Heatmaps of the median cumulative reported cases per 1000 population from the simulations under the baseline (A), 5% reduced (B), and 5% improved (C) vaccination coverage scenarios across counties in Texas. </a:t>
            </a:r>
          </a:p>
        </p:txBody>
      </p:sp>
      <p:sp>
        <p:nvSpPr>
          <p:cNvPr id="50" name="TextBox 49">
            <a:extLst>
              <a:ext uri="{FF2B5EF4-FFF2-40B4-BE49-F238E27FC236}">
                <a16:creationId xmlns:a16="http://schemas.microsoft.com/office/drawing/2014/main" id="{3A401DC1-21D4-D3C6-AF32-025C697E691A}"/>
              </a:ext>
            </a:extLst>
          </p:cNvPr>
          <p:cNvSpPr txBox="1"/>
          <p:nvPr/>
        </p:nvSpPr>
        <p:spPr>
          <a:xfrm>
            <a:off x="23244804" y="5341356"/>
            <a:ext cx="8457900" cy="15905893"/>
          </a:xfrm>
          <a:prstGeom prst="rect">
            <a:avLst/>
          </a:prstGeom>
          <a:noFill/>
        </p:spPr>
        <p:txBody>
          <a:bodyPr wrap="square">
            <a:spAutoFit/>
          </a:bodyPr>
          <a:lstStyle/>
          <a:p>
            <a:pPr>
              <a:spcAft>
                <a:spcPts val="1000"/>
              </a:spcAft>
            </a:pPr>
            <a:r>
              <a:rPr lang="en-US" sz="3670" dirty="0">
                <a:latin typeface="Calibri" panose="020F0502020204030204" pitchFamily="34" charset="0"/>
                <a:ea typeface="Calibri" panose="020F0502020204030204" pitchFamily="34" charset="0"/>
                <a:cs typeface="Calibri" panose="020F0502020204030204" pitchFamily="34" charset="0"/>
              </a:rPr>
              <a:t>We simulated a hypothetical measles outbreak in each Texas county, assuming a single case was imported on January 20, 2025. The model projected outbreak dynamics through June 10, 2025, under three same scenarios. While this method enabled direct comparison between scenarios, it's important to note that it treated each county's outbreak as independent and did not account for inter-county transmission.</a:t>
            </a:r>
          </a:p>
          <a:p>
            <a:r>
              <a:rPr lang="en-US" sz="3670" dirty="0">
                <a:latin typeface="Calibri" panose="020F0502020204030204" pitchFamily="34" charset="0"/>
                <a:ea typeface="Calibri" panose="020F0502020204030204" pitchFamily="34" charset="0"/>
                <a:cs typeface="Calibri" panose="020F0502020204030204" pitchFamily="34" charset="0"/>
              </a:rPr>
              <a:t>Under the </a:t>
            </a:r>
            <a:r>
              <a:rPr lang="en-US" sz="3670" b="1" dirty="0">
                <a:latin typeface="Calibri" panose="020F0502020204030204" pitchFamily="34" charset="0"/>
                <a:ea typeface="Calibri" panose="020F0502020204030204" pitchFamily="34" charset="0"/>
                <a:cs typeface="Calibri" panose="020F0502020204030204" pitchFamily="34" charset="0"/>
              </a:rPr>
              <a:t>baseline</a:t>
            </a:r>
            <a:r>
              <a:rPr lang="en-US" sz="3670" dirty="0">
                <a:latin typeface="Calibri" panose="020F0502020204030204" pitchFamily="34" charset="0"/>
                <a:ea typeface="Calibri" panose="020F0502020204030204" pitchFamily="34" charset="0"/>
                <a:cs typeface="Calibri" panose="020F0502020204030204" pitchFamily="34" charset="0"/>
              </a:rPr>
              <a:t> scenario, the model projected that Gaines, Walker, Brazos, Erath, Kent, and Sterling counties would experience the largest outbreaks, all exceeding 12 cases per 1,000 population. When we simulated a </a:t>
            </a:r>
            <a:r>
              <a:rPr lang="en-US" sz="3670" b="1" dirty="0">
                <a:latin typeface="Calibri" panose="020F0502020204030204" pitchFamily="34" charset="0"/>
                <a:ea typeface="Calibri" panose="020F0502020204030204" pitchFamily="34" charset="0"/>
                <a:cs typeface="Calibri" panose="020F0502020204030204" pitchFamily="34" charset="0"/>
              </a:rPr>
              <a:t>5% reduction</a:t>
            </a:r>
            <a:r>
              <a:rPr lang="en-US" sz="3670" dirty="0">
                <a:latin typeface="Calibri" panose="020F0502020204030204" pitchFamily="34" charset="0"/>
                <a:ea typeface="Calibri" panose="020F0502020204030204" pitchFamily="34" charset="0"/>
                <a:cs typeface="Calibri" panose="020F0502020204030204" pitchFamily="34" charset="0"/>
              </a:rPr>
              <a:t> in vaccination coverage, the magnitude of these outbreaks increased significantly. Gaines County was hit hardest, with a projected 21 cases and 4 hospitalizations per 1,000 people. Conversely, an overall </a:t>
            </a:r>
            <a:r>
              <a:rPr lang="en-US" sz="3670" b="1" dirty="0">
                <a:latin typeface="Calibri" panose="020F0502020204030204" pitchFamily="34" charset="0"/>
                <a:ea typeface="Calibri" panose="020F0502020204030204" pitchFamily="34" charset="0"/>
                <a:cs typeface="Calibri" panose="020F0502020204030204" pitchFamily="34" charset="0"/>
              </a:rPr>
              <a:t>5% increase</a:t>
            </a:r>
            <a:r>
              <a:rPr lang="en-US" sz="3670" dirty="0">
                <a:latin typeface="Calibri" panose="020F0502020204030204" pitchFamily="34" charset="0"/>
                <a:ea typeface="Calibri" panose="020F0502020204030204" pitchFamily="34" charset="0"/>
                <a:cs typeface="Calibri" panose="020F0502020204030204" pitchFamily="34" charset="0"/>
              </a:rPr>
              <a:t> in vaccination rates across all counties was projected to effectively contain the outbreak, with no county expected to exceed 15 cases or 3 hospitalizations per 1,000 people.</a:t>
            </a:r>
          </a:p>
        </p:txBody>
      </p:sp>
      <p:sp>
        <p:nvSpPr>
          <p:cNvPr id="60" name="TextBox 59">
            <a:extLst>
              <a:ext uri="{FF2B5EF4-FFF2-40B4-BE49-F238E27FC236}">
                <a16:creationId xmlns:a16="http://schemas.microsoft.com/office/drawing/2014/main" id="{CDEBACB2-7FCA-4B6A-F22D-EF854ED9495A}"/>
              </a:ext>
            </a:extLst>
          </p:cNvPr>
          <p:cNvSpPr txBox="1"/>
          <p:nvPr/>
        </p:nvSpPr>
        <p:spPr>
          <a:xfrm>
            <a:off x="23244504" y="30569325"/>
            <a:ext cx="19299227" cy="1138773"/>
          </a:xfrm>
          <a:prstGeom prst="rect">
            <a:avLst/>
          </a:prstGeom>
          <a:noFill/>
        </p:spPr>
        <p:txBody>
          <a:bodyPr wrap="square">
            <a:spAutoFit/>
          </a:bodyPr>
          <a:lstStyle/>
          <a:p>
            <a:r>
              <a:rPr lang="en-US" sz="3400" dirty="0">
                <a:latin typeface="Calibri" panose="020F0502020204030204" pitchFamily="34" charset="0"/>
                <a:ea typeface="Calibri" panose="020F0502020204030204" pitchFamily="34" charset="0"/>
                <a:cs typeface="Calibri" panose="020F0502020204030204" pitchFamily="34" charset="0"/>
              </a:rPr>
              <a:t>Bi, Kaiming, et al. "Modeling the Impact of MMR Vaccination Strategies on Measles Outbreak in Texas." </a:t>
            </a:r>
            <a:r>
              <a:rPr lang="en-US" sz="3400" i="1" dirty="0">
                <a:latin typeface="Calibri" panose="020F0502020204030204" pitchFamily="34" charset="0"/>
                <a:ea typeface="Calibri" panose="020F0502020204030204" pitchFamily="34" charset="0"/>
                <a:cs typeface="Calibri" panose="020F0502020204030204" pitchFamily="34" charset="0"/>
              </a:rPr>
              <a:t>JAMA Health Forum</a:t>
            </a:r>
            <a:r>
              <a:rPr lang="en-US" sz="3400" dirty="0">
                <a:latin typeface="Calibri" panose="020F0502020204030204" pitchFamily="34" charset="0"/>
                <a:ea typeface="Calibri" panose="020F0502020204030204" pitchFamily="34" charset="0"/>
                <a:cs typeface="Calibri" panose="020F0502020204030204" pitchFamily="34" charset="0"/>
              </a:rPr>
              <a:t>, vol. 6, no. 9, 2025, p. e253992. </a:t>
            </a:r>
            <a:r>
              <a:rPr lang="en-US" sz="3400" i="1" dirty="0">
                <a:latin typeface="Calibri" panose="020F0502020204030204" pitchFamily="34" charset="0"/>
                <a:ea typeface="Calibri" panose="020F0502020204030204" pitchFamily="34" charset="0"/>
                <a:cs typeface="Calibri" panose="020F0502020204030204" pitchFamily="34" charset="0"/>
              </a:rPr>
              <a:t>JAMA Network</a:t>
            </a:r>
            <a:r>
              <a:rPr lang="en-US" sz="3400" dirty="0">
                <a:latin typeface="Calibri" panose="020F0502020204030204" pitchFamily="34" charset="0"/>
                <a:ea typeface="Calibri" panose="020F0502020204030204" pitchFamily="34" charset="0"/>
                <a:cs typeface="Calibri" panose="020F0502020204030204" pitchFamily="34" charset="0"/>
              </a:rPr>
              <a:t>, doi:10.1001/jamahealthforum.2025.3992.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gt;&lt;/object&gt;&lt;/database&gt;"/>
  <p:tag name="SECTOMILLISECCONVERTED" val="1"/>
</p:tagLst>
</file>

<file path=ppt/theme/theme1.xml><?xml version="1.0" encoding="utf-8"?>
<a:theme xmlns:a="http://schemas.openxmlformats.org/drawingml/2006/main" name="Default Design">
  <a:themeElements>
    <a:clrScheme name="UTHealth">
      <a:dk1>
        <a:srgbClr val="000000"/>
      </a:dk1>
      <a:lt1>
        <a:srgbClr val="FFFFFF"/>
      </a:lt1>
      <a:dk2>
        <a:srgbClr val="000000"/>
      </a:dk2>
      <a:lt2>
        <a:srgbClr val="FFFFFF"/>
      </a:lt2>
      <a:accent1>
        <a:srgbClr val="BD4F19"/>
      </a:accent1>
      <a:accent2>
        <a:srgbClr val="4D4F53"/>
      </a:accent2>
      <a:accent3>
        <a:srgbClr val="44697D"/>
      </a:accent3>
      <a:accent4>
        <a:srgbClr val="206C49"/>
      </a:accent4>
      <a:accent5>
        <a:srgbClr val="412D5D"/>
      </a:accent5>
      <a:accent6>
        <a:srgbClr val="552600"/>
      </a:accent6>
      <a:hlink>
        <a:srgbClr val="0070C0"/>
      </a:hlink>
      <a:folHlink>
        <a:srgbClr val="0070C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135313" rtl="0" eaLnBrk="1" fontAlgn="base" latinLnBrk="0" hangingPunct="1">
          <a:lnSpc>
            <a:spcPct val="100000"/>
          </a:lnSpc>
          <a:spcBef>
            <a:spcPct val="0"/>
          </a:spcBef>
          <a:spcAft>
            <a:spcPct val="0"/>
          </a:spcAft>
          <a:buClrTx/>
          <a:buSzTx/>
          <a:buFontTx/>
          <a:buNone/>
          <a:tabLst/>
          <a:defRPr kumimoji="0" lang="en-US" sz="6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135313" rtl="0" eaLnBrk="1" fontAlgn="base" latinLnBrk="0" hangingPunct="1">
          <a:lnSpc>
            <a:spcPct val="100000"/>
          </a:lnSpc>
          <a:spcBef>
            <a:spcPct val="0"/>
          </a:spcBef>
          <a:spcAft>
            <a:spcPct val="0"/>
          </a:spcAft>
          <a:buClrTx/>
          <a:buSzTx/>
          <a:buFontTx/>
          <a:buNone/>
          <a:tabLst/>
          <a:defRPr kumimoji="0" lang="en-US" sz="6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Contents xmlns="7c02b77e-3c7a-4d27-898c-02af49f46cf8" xsi:nil="true"/>
    <TaxCatchAll xmlns="5f2286a4-c239-4b68-8cfc-f9d8c0d9538e" xsi:nil="true"/>
    <lcf76f155ced4ddcb4097134ff3c332f xmlns="7c02b77e-3c7a-4d27-898c-02af49f46cf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8062844FF7AA46A995048E09F894C9" ma:contentTypeVersion="20" ma:contentTypeDescription="Create a new document." ma:contentTypeScope="" ma:versionID="d00fe7b66118f0c6762d624e7055a62c">
  <xsd:schema xmlns:xsd="http://www.w3.org/2001/XMLSchema" xmlns:xs="http://www.w3.org/2001/XMLSchema" xmlns:p="http://schemas.microsoft.com/office/2006/metadata/properties" xmlns:ns1="http://schemas.microsoft.com/sharepoint/v3" xmlns:ns2="7c02b77e-3c7a-4d27-898c-02af49f46cf8" xmlns:ns3="5f2286a4-c239-4b68-8cfc-f9d8c0d9538e" targetNamespace="http://schemas.microsoft.com/office/2006/metadata/properties" ma:root="true" ma:fieldsID="3c29880eaeb61d529362e87f8bf3d97e" ns1:_="" ns2:_="" ns3:_="">
    <xsd:import namespace="http://schemas.microsoft.com/sharepoint/v3"/>
    <xsd:import namespace="7c02b77e-3c7a-4d27-898c-02af49f46cf8"/>
    <xsd:import namespace="5f2286a4-c239-4b68-8cfc-f9d8c0d9538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ObjectDetectorVersions" minOccurs="0"/>
                <xsd:element ref="ns2:MediaServiceDateTaken" minOccurs="0"/>
                <xsd:element ref="ns2:MediaLengthInSeconds" minOccurs="0"/>
                <xsd:element ref="ns2:MediaServiceSearchProperties" minOccurs="0"/>
                <xsd:element ref="ns2:Conte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02b77e-3c7a-4d27-898c-02af49f46c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Contents" ma:index="24" nillable="true" ma:displayName="Contents" ma:format="Dropdown" ma:internalName="Contents">
      <xsd:simpleType>
        <xsd:restriction base="dms:Text">
          <xsd:maxLength value="255"/>
        </xsd:restrictio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dd802298-ac7f-4dc9-a73d-133dd7ac0fd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f2286a4-c239-4b68-8cfc-f9d8c0d953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f88aac2c-818c-4d02-9118-6ae8bb6a0d9c}" ma:internalName="TaxCatchAll" ma:showField="CatchAllData" ma:web="5f2286a4-c239-4b68-8cfc-f9d8c0d953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F9EB10-E202-4F98-9439-7D44EF816667}">
  <ds:schemaRefs>
    <ds:schemaRef ds:uri="http://schemas.microsoft.com/office/2006/metadata/properties"/>
    <ds:schemaRef ds:uri="http://schemas.microsoft.com/office/infopath/2007/PartnerControls"/>
    <ds:schemaRef ds:uri="http://schemas.microsoft.com/sharepoint/v3"/>
    <ds:schemaRef ds:uri="7c02b77e-3c7a-4d27-898c-02af49f46cf8"/>
    <ds:schemaRef ds:uri="5f2286a4-c239-4b68-8cfc-f9d8c0d9538e"/>
  </ds:schemaRefs>
</ds:datastoreItem>
</file>

<file path=customXml/itemProps2.xml><?xml version="1.0" encoding="utf-8"?>
<ds:datastoreItem xmlns:ds="http://schemas.openxmlformats.org/officeDocument/2006/customXml" ds:itemID="{6B120C19-0FA7-4A8F-B4B0-1B0B5918A57A}">
  <ds:schemaRefs>
    <ds:schemaRef ds:uri="http://schemas.microsoft.com/sharepoint/v3/contenttype/forms"/>
  </ds:schemaRefs>
</ds:datastoreItem>
</file>

<file path=customXml/itemProps3.xml><?xml version="1.0" encoding="utf-8"?>
<ds:datastoreItem xmlns:ds="http://schemas.openxmlformats.org/officeDocument/2006/customXml" ds:itemID="{C51648D3-5AA4-4E20-B4DB-ECFD44EAC9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c02b77e-3c7a-4d27-898c-02af49f46cf8"/>
    <ds:schemaRef ds:uri="5f2286a4-c239-4b68-8cfc-f9d8c0d953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UTH SPH</Template>
  <TotalTime>6966</TotalTime>
  <Words>925</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Default Design</vt:lpstr>
      <vt:lpstr>PowerPoint Presentation</vt:lpstr>
    </vt:vector>
  </TitlesOfParts>
  <Company>Texas Woman's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UTHealth SON</dc:creator>
  <cp:lastModifiedBy>Bi, Kaiming</cp:lastModifiedBy>
  <cp:revision>264</cp:revision>
  <cp:lastPrinted>2018-08-02T12:59:16Z</cp:lastPrinted>
  <dcterms:created xsi:type="dcterms:W3CDTF">2002-12-20T21:18:36Z</dcterms:created>
  <dcterms:modified xsi:type="dcterms:W3CDTF">2025-08-25T21:30:34Z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0x010100828062844FF7AA46A995048E09F894C9</vt:lpwstr>
  </property>
  <property fmtid="{D5CDD505-2E9C-101B-9397-08002B2CF9AE}" pid="3" name="MediaServiceImageTags">
    <vt:lpwstr/>
  </property>
</Properties>
</file>